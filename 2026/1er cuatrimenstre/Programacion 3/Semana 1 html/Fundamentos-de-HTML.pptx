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71" r:id="rId15"/>
    <p:sldId id="267" r:id="rId16"/>
    <p:sldId id="268" r:id="rId17"/>
    <p:sldId id="272" r:id="rId18"/>
  </p:sldIdLst>
  <p:sldSz cx="14630400" cy="8229600"/>
  <p:notesSz cx="8229600" cy="14630400"/>
  <p:embeddedFontLst>
    <p:embeddedFont>
      <p:font typeface="Alexandria Semi Bold" panose="020B0604020202020204" charset="-78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Sora Light" panose="020B0604020202020204" charset="0"/>
      <p:regular r:id="rId25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60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10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422571"/>
            <a:ext cx="670869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Fundamentos de HTML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4602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Estructura, Texto y Semántica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519595"/>
            <a:ext cx="1727121" cy="40707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888206" y="1584484"/>
            <a:ext cx="146732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INTRODUCCIÓN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201322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¿Qué es HTML?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02218" y="3050858"/>
            <a:ext cx="6604754" cy="3068598"/>
          </a:xfrm>
          <a:prstGeom prst="roundRect">
            <a:avLst>
              <a:gd name="adj" fmla="val 5084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18793" y="3267432"/>
            <a:ext cx="309324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Lenguaje de Marcado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8793" y="3840242"/>
            <a:ext cx="617160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HTML no es un lenguaje de programación, sino un sistema de etiquetas que define estructura y significado del contenido web.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587139" y="3294578"/>
            <a:ext cx="3037999" cy="2581156"/>
          </a:xfrm>
          <a:prstGeom prst="roundRect">
            <a:avLst>
              <a:gd name="adj" fmla="val 352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7811333" y="3518773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0046" y="3697486"/>
            <a:ext cx="292418" cy="2924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11333" y="4385310"/>
            <a:ext cx="258960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Hipertexto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11333" y="4958120"/>
            <a:ext cx="258960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Vincula páginas entre sí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0841712" y="3294578"/>
            <a:ext cx="3037999" cy="2581156"/>
          </a:xfrm>
          <a:prstGeom prst="roundRect">
            <a:avLst>
              <a:gd name="adj" fmla="val 352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11065907" y="3518773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44620" y="3697486"/>
            <a:ext cx="292418" cy="2924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065907" y="4385310"/>
            <a:ext cx="258960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Marcado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1065907" y="4958120"/>
            <a:ext cx="258960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Etiquetas definen contenido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58309" y="636317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Piensa en HTML como el </a:t>
            </a:r>
            <a:r>
              <a:rPr lang="en-US" sz="1700" dirty="0">
                <a:solidFill>
                  <a:srgbClr val="3B3535"/>
                </a:solidFill>
                <a:highlight>
                  <a:srgbClr val="D3DCF6"/>
                </a:highlight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esqueleto de una casa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define cimientos, paredes y organización antes de aplicar estilo visual.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87598"/>
            <a:ext cx="663630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Ciclo de Vida del HTML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123" y="1933575"/>
            <a:ext cx="7702153" cy="457128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9121" y="3050873"/>
            <a:ext cx="655683" cy="6556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24949" y="5240648"/>
            <a:ext cx="1914594" cy="776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Renderizado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8708" y="3052103"/>
            <a:ext cx="655682" cy="6556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12037" y="5240648"/>
            <a:ext cx="1914594" cy="776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Interpretación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5795" y="3052103"/>
            <a:ext cx="655683" cy="6556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59783" y="5434690"/>
            <a:ext cx="1914593" cy="38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Solicitud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758309" y="6748582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 navegador solicita el archivo, interpreta las etiquetas línea por línea y finalmente renderiza el contenido visual para el usuario.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2416" y="1046202"/>
            <a:ext cx="861774" cy="305633"/>
          </a:xfrm>
          <a:prstGeom prst="roundRect">
            <a:avLst>
              <a:gd name="adj" fmla="val 18414"/>
            </a:avLst>
          </a:prstGeom>
          <a:noFill/>
          <a:ln w="7620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1340525" y="1104067"/>
            <a:ext cx="645557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SINTAXIS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32416" y="1403628"/>
            <a:ext cx="5902523" cy="550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Anatomía de una Etiqueta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416" y="2473155"/>
            <a:ext cx="7764542" cy="43998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3200" y="2294334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413200" y="2556034"/>
            <a:ext cx="3992285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9413200" y="2685455"/>
            <a:ext cx="2203847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Apertura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413200" y="3090267"/>
            <a:ext cx="3992285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el inicio del elemento (ej. </a:t>
            </a: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413200" y="3590449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13200" y="3852148"/>
            <a:ext cx="3992285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9413200" y="3981569"/>
            <a:ext cx="2203847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Contenido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413200" y="4386382"/>
            <a:ext cx="399228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 o elementos internos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413200" y="4878943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413200" y="5140643"/>
            <a:ext cx="3992285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9413200" y="5270063"/>
            <a:ext cx="2203847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Cierre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413200" y="5674876"/>
            <a:ext cx="3992285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Finaliza el elemento (ej. </a:t>
            </a: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413200" y="6191250"/>
            <a:ext cx="3992285" cy="846415"/>
          </a:xfrm>
          <a:prstGeom prst="roundRect">
            <a:avLst>
              <a:gd name="adj" fmla="val 8311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602" y="6429137"/>
            <a:ext cx="209312" cy="167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957316" y="6362462"/>
            <a:ext cx="3280767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Existen </a:t>
            </a:r>
            <a:r>
              <a:rPr lang="en-US" sz="13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etiquetas autocerradas</a:t>
            </a:r>
            <a:r>
              <a:rPr lang="en-US" sz="13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como la de imagen que no requieren cierre.</a:t>
            </a:r>
            <a:endParaRPr lang="en-US" sz="13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B5DDCEF-1356-EABA-00DB-39E86DFE577A}"/>
              </a:ext>
            </a:extLst>
          </p:cNvPr>
          <p:cNvSpPr txBox="1"/>
          <p:nvPr/>
        </p:nvSpPr>
        <p:spPr>
          <a:xfrm>
            <a:off x="4420844" y="4362302"/>
            <a:ext cx="1372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/>
              <a:t>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284" y="597098"/>
            <a:ext cx="7122557" cy="70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Estructura Básica HTML5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51284" y="1728549"/>
            <a:ext cx="13127831" cy="1312664"/>
          </a:xfrm>
          <a:prstGeom prst="roundRect">
            <a:avLst>
              <a:gd name="adj" fmla="val 6869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1764" y="1759029"/>
            <a:ext cx="858679" cy="1251704"/>
          </a:xfrm>
          <a:prstGeom prst="roundRect">
            <a:avLst>
              <a:gd name="adj" fmla="val 6241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46321" y="2183606"/>
            <a:ext cx="321945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853089" y="1973699"/>
            <a:ext cx="2824639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&lt;!DOCTYPE html&gt;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53089" y="2454235"/>
            <a:ext cx="11780877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Indica al navegador que se usa HTML5, la versión actual y estándar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1284" y="3253859"/>
            <a:ext cx="13127831" cy="1327904"/>
          </a:xfrm>
          <a:prstGeom prst="roundRect">
            <a:avLst>
              <a:gd name="adj" fmla="val 6790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781764" y="3284339"/>
            <a:ext cx="858679" cy="1266944"/>
          </a:xfrm>
          <a:prstGeom prst="roundRect">
            <a:avLst>
              <a:gd name="adj" fmla="val 6241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46321" y="3716536"/>
            <a:ext cx="321945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853089" y="3499009"/>
            <a:ext cx="2824639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&lt;html&gt;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53089" y="3979545"/>
            <a:ext cx="11780877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Etiqueta raíz que marca inicio y fin del documento. Incluye atributo </a:t>
            </a:r>
            <a:r>
              <a:rPr lang="en-US" sz="16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para definir idioma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51284" y="4794409"/>
            <a:ext cx="13127831" cy="1312664"/>
          </a:xfrm>
          <a:prstGeom prst="roundRect">
            <a:avLst>
              <a:gd name="adj" fmla="val 6869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781764" y="4824889"/>
            <a:ext cx="858679" cy="1251704"/>
          </a:xfrm>
          <a:prstGeom prst="roundRect">
            <a:avLst>
              <a:gd name="adj" fmla="val 6241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1046321" y="5249466"/>
            <a:ext cx="321945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853089" y="5039558"/>
            <a:ext cx="2824639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&lt;head&gt;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53089" y="5520095"/>
            <a:ext cx="11780877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Contiene metadatos invisibles pero cruciales: codificación UTF-8, viewport y título de pestaña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51284" y="6319718"/>
            <a:ext cx="13127831" cy="1312664"/>
          </a:xfrm>
          <a:prstGeom prst="roundRect">
            <a:avLst>
              <a:gd name="adj" fmla="val 6869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781764" y="6350198"/>
            <a:ext cx="858679" cy="1251704"/>
          </a:xfrm>
          <a:prstGeom prst="roundRect">
            <a:avLst>
              <a:gd name="adj" fmla="val 6241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1046321" y="6774775"/>
            <a:ext cx="321945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853089" y="6564868"/>
            <a:ext cx="2824639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&lt;body&gt;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53089" y="7045404"/>
            <a:ext cx="11780877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Todo el contenido visible y accesible para el usuario: encabezados, párrafos, imágenes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91672"/>
            <a:ext cx="758880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Jerarquía de Encabezados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566" y="2137648"/>
            <a:ext cx="1298258" cy="789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84295" y="2427803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4902398" y="2354223"/>
            <a:ext cx="59293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&lt;h1&gt;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739878" y="2938820"/>
            <a:ext cx="9078158" cy="15240"/>
          </a:xfrm>
          <a:prstGeom prst="roundRect">
            <a:avLst>
              <a:gd name="adj" fmla="val 597101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38" y="2981087"/>
            <a:ext cx="2596515" cy="7893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84295" y="3185398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5551527" y="3197662"/>
            <a:ext cx="65103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&lt;h2&gt;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389007" y="3782258"/>
            <a:ext cx="8429030" cy="15240"/>
          </a:xfrm>
          <a:prstGeom prst="roundRect">
            <a:avLst>
              <a:gd name="adj" fmla="val 597101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309" y="3824526"/>
            <a:ext cx="3894773" cy="7893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84295" y="4028837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8"/>
          <p:cNvSpPr/>
          <p:nvPr/>
        </p:nvSpPr>
        <p:spPr>
          <a:xfrm>
            <a:off x="6200656" y="4041100"/>
            <a:ext cx="65139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&lt;h3&gt;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038136" y="4625697"/>
            <a:ext cx="7779901" cy="15240"/>
          </a:xfrm>
          <a:prstGeom prst="roundRect">
            <a:avLst>
              <a:gd name="adj" fmla="val 597101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180" y="4667964"/>
            <a:ext cx="5193030" cy="7893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84295" y="4872276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350" dirty="0"/>
          </a:p>
        </p:txBody>
      </p:sp>
      <p:sp>
        <p:nvSpPr>
          <p:cNvPr id="17" name="Text 11"/>
          <p:cNvSpPr/>
          <p:nvPr/>
        </p:nvSpPr>
        <p:spPr>
          <a:xfrm>
            <a:off x="6849785" y="4884539"/>
            <a:ext cx="65282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&lt;h4&gt;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6687264" y="5469136"/>
            <a:ext cx="7130772" cy="15240"/>
          </a:xfrm>
          <a:prstGeom prst="roundRect">
            <a:avLst>
              <a:gd name="adj" fmla="val 597101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51" y="5511403"/>
            <a:ext cx="6491288" cy="7893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4295" y="5715714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</a:t>
            </a:r>
            <a:endParaRPr lang="en-US" sz="2350" dirty="0"/>
          </a:p>
        </p:txBody>
      </p:sp>
      <p:sp>
        <p:nvSpPr>
          <p:cNvPr id="21" name="Text 14"/>
          <p:cNvSpPr/>
          <p:nvPr/>
        </p:nvSpPr>
        <p:spPr>
          <a:xfrm>
            <a:off x="7498913" y="5727978"/>
            <a:ext cx="139648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&lt;h5&gt; &lt;h6&gt;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58309" y="654450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 </a:t>
            </a:r>
            <a:r>
              <a:rPr lang="en-US" sz="1700" b="1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&lt;h1&gt;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es el más importante para SEO y semántica. </a:t>
            </a:r>
            <a:r>
              <a:rPr lang="en-US" sz="1700" dirty="0">
                <a:solidFill>
                  <a:srgbClr val="3B3535"/>
                </a:solidFill>
                <a:highlight>
                  <a:srgbClr val="E7EEF9"/>
                </a:highlight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Solo uno por documento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Los niveles h2-h6 estructuran subsecciones y pueden repetirse.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373" y="831652"/>
            <a:ext cx="2300526" cy="365641"/>
          </a:xfrm>
          <a:prstGeom prst="roundRect">
            <a:avLst>
              <a:gd name="adj" fmla="val 1836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150" y="934522"/>
            <a:ext cx="159782" cy="159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8823" y="891540"/>
            <a:ext cx="1821299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ELEMENTOS DE TEXTO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9373" y="1270992"/>
            <a:ext cx="5258514" cy="65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Párrafos y Saltos</a:t>
            </a:r>
            <a:endParaRPr lang="en-US" sz="4100" dirty="0"/>
          </a:p>
        </p:txBody>
      </p:sp>
      <p:sp>
        <p:nvSpPr>
          <p:cNvPr id="6" name="Shape 3"/>
          <p:cNvSpPr/>
          <p:nvPr/>
        </p:nvSpPr>
        <p:spPr>
          <a:xfrm>
            <a:off x="699373" y="2411968"/>
            <a:ext cx="4314230" cy="1572458"/>
          </a:xfrm>
          <a:prstGeom prst="roundRect">
            <a:avLst>
              <a:gd name="adj" fmla="val 6978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676513" y="2411968"/>
            <a:ext cx="91440" cy="1572458"/>
          </a:xfrm>
          <a:prstGeom prst="roundRect">
            <a:avLst>
              <a:gd name="adj" fmla="val 9178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990600" y="2634615"/>
            <a:ext cx="262925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&lt;p&gt;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90600" y="3147417"/>
            <a:ext cx="380035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bloques de texto con espaciado automático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9373" y="4168616"/>
            <a:ext cx="4314230" cy="1572458"/>
          </a:xfrm>
          <a:prstGeom prst="roundRect">
            <a:avLst>
              <a:gd name="adj" fmla="val 6978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676513" y="4168616"/>
            <a:ext cx="91440" cy="1572458"/>
          </a:xfrm>
          <a:prstGeom prst="roundRect">
            <a:avLst>
              <a:gd name="adj" fmla="val 9178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990600" y="4391263"/>
            <a:ext cx="262925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&lt;br&gt;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990600" y="4904065"/>
            <a:ext cx="380035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Salto de línea forzado sin nuevo párrafo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9373" y="5925264"/>
            <a:ext cx="4314230" cy="1265277"/>
          </a:xfrm>
          <a:prstGeom prst="roundRect">
            <a:avLst>
              <a:gd name="adj" fmla="val 867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676513" y="5925264"/>
            <a:ext cx="91440" cy="1265277"/>
          </a:xfrm>
          <a:prstGeom prst="roundRect">
            <a:avLst>
              <a:gd name="adj" fmla="val 9178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990600" y="6147911"/>
            <a:ext cx="262925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&lt;hr&gt;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990600" y="6660713"/>
            <a:ext cx="3800356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Línea horizontal que separa secciones</a:t>
            </a:r>
            <a:endParaRPr lang="en-US" sz="1550" dirty="0"/>
          </a:p>
        </p:txBody>
      </p:sp>
      <p:pic>
        <p:nvPicPr>
          <p:cNvPr id="20" name="Imagen 19" descr="Escala de tiempo">
            <a:extLst>
              <a:ext uri="{FF2B5EF4-FFF2-40B4-BE49-F238E27FC236}">
                <a16:creationId xmlns:a16="http://schemas.microsoft.com/office/drawing/2014/main" id="{85ED2D45-4141-2FDF-4428-21FEF9341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878" y="2744499"/>
            <a:ext cx="8005269" cy="3622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05583"/>
            <a:ext cx="834818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Otros Elementos de Formato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51559"/>
            <a:ext cx="3115985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982504" y="3175754"/>
            <a:ext cx="2667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&lt;mark&gt;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2504" y="3661886"/>
            <a:ext cx="26675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Resalta texto como marcador fluorescente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90868" y="2951559"/>
            <a:ext cx="3115985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315063" y="3175754"/>
            <a:ext cx="2667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&lt;ins&gt;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15063" y="3661886"/>
            <a:ext cx="26675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 insertado, visualizado subrayado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3428" y="2951559"/>
            <a:ext cx="3115985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647623" y="3175754"/>
            <a:ext cx="2667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&lt;small&gt;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47623" y="3661886"/>
            <a:ext cx="26675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 tamaño para comentarios o "letra chica"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55987" y="2951559"/>
            <a:ext cx="3116104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10980182" y="3175754"/>
            <a:ext cx="266771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&lt;u&gt;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80182" y="3661886"/>
            <a:ext cx="26677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Aplica subrayado al texto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5142786"/>
            <a:ext cx="131137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82504" y="53669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&lt;del&gt;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2504" y="5853113"/>
            <a:ext cx="126653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Contenido eliminado o no válido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62841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Puntos Clave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666048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6948726" y="2740462"/>
            <a:ext cx="43405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HTML es lenguaje de marcado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3226594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estructura y semántica, no es programación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4006572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6948726" y="4080986"/>
            <a:ext cx="394525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Estructura estándar HTML5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456711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DOCTYPE, html, head (metadatos) y body (contenido visible)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34709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6948726" y="5421511"/>
            <a:ext cx="294132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Jerarquía semántica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5907643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Los encabezados y etiquetas de formato aportan significado al contenido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76A29D-A59F-7377-C5BC-80B00711A0AE}"/>
              </a:ext>
            </a:extLst>
          </p:cNvPr>
          <p:cNvSpPr/>
          <p:nvPr/>
        </p:nvSpPr>
        <p:spPr>
          <a:xfrm>
            <a:off x="803195" y="765980"/>
            <a:ext cx="4498147" cy="660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Listas y Multimedia en HTML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E7981F-FB8D-F098-3F06-ED496E629602}"/>
              </a:ext>
            </a:extLst>
          </p:cNvPr>
          <p:cNvSpPr/>
          <p:nvPr/>
        </p:nvSpPr>
        <p:spPr>
          <a:xfrm>
            <a:off x="638611" y="2696256"/>
            <a:ext cx="3095189" cy="408398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829C92-7311-E7BC-CF58-AB77AF72E27F}"/>
              </a:ext>
            </a:extLst>
          </p:cNvPr>
          <p:cNvSpPr/>
          <p:nvPr/>
        </p:nvSpPr>
        <p:spPr>
          <a:xfrm>
            <a:off x="727643" y="2896342"/>
            <a:ext cx="2810863" cy="7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ESTRUCTURANDO CONTENIDO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68B1B7-EFF6-94C9-4A55-6B16C0DEF136}"/>
              </a:ext>
            </a:extLst>
          </p:cNvPr>
          <p:cNvSpPr/>
          <p:nvPr/>
        </p:nvSpPr>
        <p:spPr>
          <a:xfrm>
            <a:off x="638611" y="3431047"/>
            <a:ext cx="431458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Listas HTML: Organiza tu Información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07B361-2984-A7B1-BAF7-F3FFE5293C45}"/>
              </a:ext>
            </a:extLst>
          </p:cNvPr>
          <p:cNvSpPr/>
          <p:nvPr/>
        </p:nvSpPr>
        <p:spPr>
          <a:xfrm>
            <a:off x="638611" y="3866010"/>
            <a:ext cx="786824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Las listas son esenciales para presentar información de forma estructurada y legible.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6FAB1F-CBEC-889E-2975-739AB4790ED7}"/>
              </a:ext>
            </a:extLst>
          </p:cNvPr>
          <p:cNvSpPr/>
          <p:nvPr/>
        </p:nvSpPr>
        <p:spPr>
          <a:xfrm>
            <a:off x="1912645" y="4807310"/>
            <a:ext cx="2224576" cy="71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Listas Ordenadas </a:t>
            </a:r>
            <a:r>
              <a:rPr lang="en-US" sz="2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4A4D0B-776A-C4DD-825A-34BAE5FEE3DF}"/>
              </a:ext>
            </a:extLst>
          </p:cNvPr>
          <p:cNvSpPr/>
          <p:nvPr/>
        </p:nvSpPr>
        <p:spPr>
          <a:xfrm>
            <a:off x="1912644" y="5054721"/>
            <a:ext cx="4662327" cy="47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Utilizadas para secuencias o pasos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donde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</a:t>
            </a:r>
            <a:endParaRPr lang="en-US" sz="16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endParaRPr lang="en-US" sz="16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orden es importante.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5B596E-D1A4-3281-4C14-B96E56E5A432}"/>
              </a:ext>
            </a:extLst>
          </p:cNvPr>
          <p:cNvSpPr/>
          <p:nvPr/>
        </p:nvSpPr>
        <p:spPr>
          <a:xfrm>
            <a:off x="7367255" y="4653647"/>
            <a:ext cx="180510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800" dirty="0" err="1">
                <a:solidFill>
                  <a:srgbClr val="1F1E1E"/>
                </a:solidFill>
                <a:latin typeface="Alexandria Semi Bold" pitchFamily="34" charset="0"/>
                <a:cs typeface="Alexandria Semi Bold" pitchFamily="34" charset="-120"/>
              </a:rPr>
              <a:t>Listas</a:t>
            </a:r>
            <a:r>
              <a:rPr lang="en-US" sz="1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</a:t>
            </a:r>
            <a:r>
              <a:rPr lang="en-US" sz="2800" dirty="0" err="1">
                <a:solidFill>
                  <a:srgbClr val="1F1E1E"/>
                </a:solidFill>
                <a:latin typeface="Alexandria Semi Bold" pitchFamily="34" charset="0"/>
                <a:cs typeface="Alexandria Semi Bold" pitchFamily="34" charset="-120"/>
              </a:rPr>
              <a:t>Desordenadas</a:t>
            </a: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cs typeface="Alexandria Semi Bold" pitchFamily="34" charset="-120"/>
              </a:rPr>
              <a:t> </a:t>
            </a:r>
            <a:r>
              <a:rPr lang="en-US" sz="1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</a:t>
            </a:r>
            <a:r>
              <a:rPr lang="en-US" sz="2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</a:rPr>
              <a:t>&lt;ul&gt;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A495C2-DF41-49E5-63B2-BEB8CDC6F337}"/>
              </a:ext>
            </a:extLst>
          </p:cNvPr>
          <p:cNvSpPr/>
          <p:nvPr/>
        </p:nvSpPr>
        <p:spPr>
          <a:xfrm>
            <a:off x="7367254" y="5030504"/>
            <a:ext cx="4988031" cy="374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Perfectas para colecciones de </a:t>
            </a:r>
          </a:p>
          <a:p>
            <a:pPr marL="0" indent="0" algn="l">
              <a:lnSpc>
                <a:spcPts val="1000"/>
              </a:lnSpc>
              <a:buNone/>
            </a:pPr>
            <a:endParaRPr lang="en-US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elementos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donde el orden no es crucial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AA05D55-B7BA-8BEE-A973-837DB940BEA7}"/>
              </a:ext>
            </a:extLst>
          </p:cNvPr>
          <p:cNvSpPr/>
          <p:nvPr/>
        </p:nvSpPr>
        <p:spPr>
          <a:xfrm>
            <a:off x="7367258" y="5807408"/>
            <a:ext cx="3801904" cy="51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Requisitos del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Cliente</a:t>
            </a: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>
              <a:lnSpc>
                <a:spcPts val="1000"/>
              </a:lnSpc>
              <a:buSzPct val="100000"/>
            </a:pP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342900" indent="-342900">
              <a:lnSpc>
                <a:spcPts val="1000"/>
              </a:lnSpc>
              <a:buSzPct val="100000"/>
              <a:buChar char="•"/>
            </a:pP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Documentación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Técnica</a:t>
            </a:r>
          </a:p>
          <a:p>
            <a:pPr>
              <a:lnSpc>
                <a:spcPts val="1000"/>
              </a:lnSpc>
              <a:buSzPct val="100000"/>
            </a:pP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342900" indent="-342900">
              <a:lnSpc>
                <a:spcPts val="10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Manual de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Usuario</a:t>
            </a: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>
              <a:lnSpc>
                <a:spcPts val="1000"/>
              </a:lnSpc>
              <a:buSzPct val="100000"/>
            </a:pP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342900" indent="-342900">
              <a:lnSpc>
                <a:spcPts val="10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Guías de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Despliegue</a:t>
            </a: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BB1B30-B854-24E2-6B96-F17BA49970CE}"/>
              </a:ext>
            </a:extLst>
          </p:cNvPr>
          <p:cNvSpPr txBox="1"/>
          <p:nvPr/>
        </p:nvSpPr>
        <p:spPr>
          <a:xfrm>
            <a:off x="670619" y="1194537"/>
            <a:ext cx="8658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En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esta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sección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exploraremos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cómo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organizar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información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en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listas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y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cómo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integrar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elementos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multimedia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como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imágenes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, videos y audios,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fundamentales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para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crear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contenido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web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dinámico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y </a:t>
            </a:r>
            <a:r>
              <a:rPr lang="en-US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atractivo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.</a:t>
            </a:r>
          </a:p>
          <a:p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9A99B9F-9D4F-8208-D842-FA912A649259}"/>
              </a:ext>
            </a:extLst>
          </p:cNvPr>
          <p:cNvSpPr txBox="1"/>
          <p:nvPr/>
        </p:nvSpPr>
        <p:spPr>
          <a:xfrm>
            <a:off x="1838064" y="5768049"/>
            <a:ext cx="4923585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1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Paso 1: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Inicializar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Proyecto</a:t>
            </a:r>
          </a:p>
          <a:p>
            <a:pPr>
              <a:lnSpc>
                <a:spcPts val="1000"/>
              </a:lnSpc>
              <a:buSzPct val="100000"/>
            </a:pP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342900" indent="-342900">
              <a:lnSpc>
                <a:spcPts val="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Paso 2: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Desarrollar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Componentes</a:t>
            </a: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>
              <a:lnSpc>
                <a:spcPts val="1000"/>
              </a:lnSpc>
              <a:buSzPct val="100000"/>
            </a:pP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342900" indent="-342900">
              <a:lnSpc>
                <a:spcPts val="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Paso 3: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Realizar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Pruebas</a:t>
            </a: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>
              <a:lnSpc>
                <a:spcPts val="1000"/>
              </a:lnSpc>
              <a:buSzPct val="100000"/>
            </a:pP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342900" indent="-342900">
              <a:lnSpc>
                <a:spcPts val="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Paso 4: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Desplegar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Aplicación</a:t>
            </a:r>
            <a:endParaRPr lang="en-US" sz="16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3238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/>
          <p:cNvSpPr/>
          <p:nvPr/>
        </p:nvSpPr>
        <p:spPr>
          <a:xfrm>
            <a:off x="1465132" y="674464"/>
            <a:ext cx="1995995" cy="402335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 sz="3200"/>
          </a:p>
        </p:txBody>
      </p:sp>
      <p:sp>
        <p:nvSpPr>
          <p:cNvPr id="16" name="Text 14"/>
          <p:cNvSpPr/>
          <p:nvPr/>
        </p:nvSpPr>
        <p:spPr>
          <a:xfrm>
            <a:off x="1530021" y="812676"/>
            <a:ext cx="1799975" cy="24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INTEGRANDO MULTIMEDIA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65132" y="1311961"/>
            <a:ext cx="8270637" cy="36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Gestión de Rutas: Dónde encontrar tus archivos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5132" y="1809978"/>
            <a:ext cx="11884433" cy="44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Entender las rutas es crucial para que el navegador encuentre los archivos de tus imágenes, videos y enlaces.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65132" y="2216005"/>
            <a:ext cx="5552806" cy="1139035"/>
          </a:xfrm>
          <a:prstGeom prst="roundRect">
            <a:avLst>
              <a:gd name="adj" fmla="val 855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3200"/>
          </a:p>
        </p:txBody>
      </p:sp>
      <p:sp>
        <p:nvSpPr>
          <p:cNvPr id="21" name="Text 19"/>
          <p:cNvSpPr/>
          <p:nvPr/>
        </p:nvSpPr>
        <p:spPr>
          <a:xfrm>
            <a:off x="1699210" y="2644862"/>
            <a:ext cx="2152811" cy="60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Rutas Absolutas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99210" y="2855366"/>
            <a:ext cx="5093476" cy="13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Especifican la ubicación completa del archivo desde la raíz de internet (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https://ejemplo.com/imagen.jpg</a:t>
            </a: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). Útiles para recursos externos.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89449" y="2191995"/>
            <a:ext cx="5552806" cy="1202685"/>
          </a:xfrm>
          <a:prstGeom prst="roundRect">
            <a:avLst>
              <a:gd name="adj" fmla="val 855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3200"/>
          </a:p>
        </p:txBody>
      </p:sp>
      <p:sp>
        <p:nvSpPr>
          <p:cNvPr id="25" name="Text 23"/>
          <p:cNvSpPr/>
          <p:nvPr/>
        </p:nvSpPr>
        <p:spPr>
          <a:xfrm>
            <a:off x="7723527" y="2514374"/>
            <a:ext cx="2152811" cy="60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Rutas Relativas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47697" y="2908629"/>
            <a:ext cx="5169306" cy="13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Indican la ubicación del archivo en relación con el documento HTML actual (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./imagenes/fondo.png</a:t>
            </a: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). Ideales para recursos dentro del mismo proyecto.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30022" y="3491453"/>
            <a:ext cx="11884433" cy="72029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s-AR" sz="3200"/>
          </a:p>
        </p:txBody>
      </p:sp>
      <p:sp>
        <p:nvSpPr>
          <p:cNvPr id="28" name="Text 26"/>
          <p:cNvSpPr/>
          <p:nvPr/>
        </p:nvSpPr>
        <p:spPr>
          <a:xfrm>
            <a:off x="1530022" y="3699894"/>
            <a:ext cx="7893528" cy="946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Imágenes </a:t>
            </a:r>
            <a:r>
              <a:rPr lang="en-US" sz="2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: El Elemento Visual Clave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530022" y="4267829"/>
            <a:ext cx="11884433" cy="60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Las imágenes enriquecen visualmente cualquier página web, pero </a:t>
            </a:r>
            <a:r>
              <a:rPr lang="en-US" sz="2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requieren</a:t>
            </a: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una</a:t>
            </a:r>
            <a:endParaRPr lang="en-US" sz="2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endParaRPr lang="en-US" sz="2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implementación cuidadosa para optimizar el rendimiento y la accesibilidad.</a:t>
            </a:r>
            <a:endParaRPr lang="en-US" sz="2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45" y="4813203"/>
            <a:ext cx="2894556" cy="289455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929374" y="5215609"/>
            <a:ext cx="2152811" cy="66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929374" y="5691848"/>
            <a:ext cx="3224812" cy="88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Fuente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del archivo de imagen (</a:t>
            </a: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ruta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absoluta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 relativa).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347144" y="5214376"/>
            <a:ext cx="2152811" cy="66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8347144" y="5691848"/>
            <a:ext cx="3224992" cy="1333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 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alternativo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descriptivo para accesibilidad (lectores de pantalla) y SEO.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929375" y="6448036"/>
            <a:ext cx="2152811" cy="66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y </a:t>
            </a:r>
            <a:r>
              <a:rPr lang="en-US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29375" y="6695447"/>
            <a:ext cx="6761458" cy="44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Definen las 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dimensiones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 la imagen, ayudando a prevenir saltos de diseño.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38"/>
          <p:cNvSpPr/>
          <p:nvPr/>
        </p:nvSpPr>
        <p:spPr>
          <a:xfrm>
            <a:off x="1433343" y="662720"/>
            <a:ext cx="6832779" cy="54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Video y Audio: Experiencias Inmersivas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1433344" y="1029075"/>
            <a:ext cx="9202000" cy="158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HTML5 facilita la integración de contenido audiovisual directamente en el navegador.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433343" y="1273987"/>
            <a:ext cx="2160294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433342" y="1521399"/>
            <a:ext cx="5762469" cy="2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Para incrustar archivos de video.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433342" y="1712256"/>
            <a:ext cx="5762469" cy="1453024"/>
          </a:xfrm>
          <a:prstGeom prst="roundRect">
            <a:avLst>
              <a:gd name="adj" fmla="val 6031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Shape 43"/>
          <p:cNvSpPr/>
          <p:nvPr/>
        </p:nvSpPr>
        <p:spPr>
          <a:xfrm>
            <a:off x="1448582" y="1727496"/>
            <a:ext cx="656695" cy="1394316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0147" y="2008245"/>
            <a:ext cx="312803" cy="312803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2380274" y="1835724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2380274" y="2083136"/>
            <a:ext cx="2851913" cy="500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Muestra los controles de reproducción (pausa, volumen, etc.).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1433342" y="2520690"/>
            <a:ext cx="5762469" cy="1453024"/>
          </a:xfrm>
          <a:prstGeom prst="roundRect">
            <a:avLst>
              <a:gd name="adj" fmla="val 6031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Shape 47"/>
          <p:cNvSpPr/>
          <p:nvPr/>
        </p:nvSpPr>
        <p:spPr>
          <a:xfrm>
            <a:off x="1448582" y="2535930"/>
            <a:ext cx="656695" cy="1394316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147" y="2816680"/>
            <a:ext cx="312803" cy="312803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2380274" y="2644158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2380274" y="2891570"/>
            <a:ext cx="2851913" cy="500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Reproduce el video automáticamente al cargar la página (con restricciones).</a:t>
            </a:r>
            <a:endParaRPr lang="en-US" sz="850" dirty="0"/>
          </a:p>
        </p:txBody>
      </p:sp>
      <p:sp>
        <p:nvSpPr>
          <p:cNvPr id="55" name="Shape 50"/>
          <p:cNvSpPr/>
          <p:nvPr/>
        </p:nvSpPr>
        <p:spPr>
          <a:xfrm>
            <a:off x="1433342" y="3329124"/>
            <a:ext cx="5762469" cy="1251903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6" name="Shape 51"/>
          <p:cNvSpPr/>
          <p:nvPr/>
        </p:nvSpPr>
        <p:spPr>
          <a:xfrm>
            <a:off x="1448582" y="3344364"/>
            <a:ext cx="656695" cy="1193195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0147" y="3572846"/>
            <a:ext cx="312803" cy="312803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2380274" y="3452592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2380274" y="3720606"/>
            <a:ext cx="4369238" cy="22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Reproduce el video en un bucle continuo.</a:t>
            </a:r>
            <a:endParaRPr lang="en-US" sz="850" dirty="0"/>
          </a:p>
        </p:txBody>
      </p:sp>
      <p:sp>
        <p:nvSpPr>
          <p:cNvPr id="60" name="Shape 54"/>
          <p:cNvSpPr/>
          <p:nvPr/>
        </p:nvSpPr>
        <p:spPr>
          <a:xfrm>
            <a:off x="1433342" y="4033141"/>
            <a:ext cx="5762469" cy="786440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1" name="Shape 55"/>
          <p:cNvSpPr/>
          <p:nvPr/>
        </p:nvSpPr>
        <p:spPr>
          <a:xfrm>
            <a:off x="1448582" y="4048380"/>
            <a:ext cx="656695" cy="714921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0147" y="4276862"/>
            <a:ext cx="312803" cy="312803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2380274" y="4156609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2380274" y="4419053"/>
            <a:ext cx="4369238" cy="23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Especifica múltiples fuentes de video para compatibilidad.</a:t>
            </a:r>
            <a:endParaRPr lang="en-US" sz="850" dirty="0"/>
          </a:p>
        </p:txBody>
      </p:sp>
      <p:sp>
        <p:nvSpPr>
          <p:cNvPr id="65" name="Text 58"/>
          <p:cNvSpPr/>
          <p:nvPr/>
        </p:nvSpPr>
        <p:spPr>
          <a:xfrm>
            <a:off x="7419350" y="1252841"/>
            <a:ext cx="2160294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</a:t>
            </a:r>
            <a:endParaRPr lang="en-US" sz="1600" dirty="0"/>
          </a:p>
        </p:txBody>
      </p:sp>
      <p:sp>
        <p:nvSpPr>
          <p:cNvPr id="66" name="Text 59"/>
          <p:cNvSpPr/>
          <p:nvPr/>
        </p:nvSpPr>
        <p:spPr>
          <a:xfrm>
            <a:off x="7419349" y="1500252"/>
            <a:ext cx="5762469" cy="26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Para incrustar archivos de audio. Los atributos son similares a </a:t>
            </a:r>
            <a:r>
              <a:rPr lang="en-US" sz="1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7419349" y="1698729"/>
            <a:ext cx="5762469" cy="1251903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8" name="Shape 61"/>
          <p:cNvSpPr/>
          <p:nvPr/>
        </p:nvSpPr>
        <p:spPr>
          <a:xfrm>
            <a:off x="7434589" y="1713969"/>
            <a:ext cx="656695" cy="1193195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6154" y="1942451"/>
            <a:ext cx="312803" cy="312803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8366281" y="1822198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endParaRPr lang="en-US" sz="1100" dirty="0"/>
          </a:p>
        </p:txBody>
      </p:sp>
      <p:sp>
        <p:nvSpPr>
          <p:cNvPr id="71" name="Text 63"/>
          <p:cNvSpPr/>
          <p:nvPr/>
        </p:nvSpPr>
        <p:spPr>
          <a:xfrm>
            <a:off x="8366281" y="2037772"/>
            <a:ext cx="4369238" cy="28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Muestra los controles de reproducción.</a:t>
            </a:r>
            <a:endParaRPr lang="en-US" sz="850" dirty="0"/>
          </a:p>
        </p:txBody>
      </p:sp>
      <p:sp>
        <p:nvSpPr>
          <p:cNvPr id="72" name="Shape 64"/>
          <p:cNvSpPr/>
          <p:nvPr/>
        </p:nvSpPr>
        <p:spPr>
          <a:xfrm>
            <a:off x="7419349" y="2402745"/>
            <a:ext cx="5762469" cy="1251903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3" name="Shape 65"/>
          <p:cNvSpPr/>
          <p:nvPr/>
        </p:nvSpPr>
        <p:spPr>
          <a:xfrm>
            <a:off x="7434589" y="2417985"/>
            <a:ext cx="656695" cy="1193195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4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6154" y="2646467"/>
            <a:ext cx="312803" cy="312803"/>
          </a:xfrm>
          <a:prstGeom prst="rect">
            <a:avLst/>
          </a:prstGeom>
        </p:spPr>
      </p:pic>
      <p:sp>
        <p:nvSpPr>
          <p:cNvPr id="75" name="Text 66"/>
          <p:cNvSpPr/>
          <p:nvPr/>
        </p:nvSpPr>
        <p:spPr>
          <a:xfrm>
            <a:off x="8366281" y="2526214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</a:t>
            </a:r>
            <a:endParaRPr lang="en-US" sz="1100" dirty="0"/>
          </a:p>
        </p:txBody>
      </p:sp>
      <p:sp>
        <p:nvSpPr>
          <p:cNvPr id="76" name="Text 67"/>
          <p:cNvSpPr/>
          <p:nvPr/>
        </p:nvSpPr>
        <p:spPr>
          <a:xfrm>
            <a:off x="8366281" y="2709492"/>
            <a:ext cx="4369238" cy="314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Reproduce el audio automáticamente.</a:t>
            </a:r>
            <a:endParaRPr lang="en-US" sz="850" dirty="0"/>
          </a:p>
        </p:txBody>
      </p:sp>
      <p:sp>
        <p:nvSpPr>
          <p:cNvPr id="77" name="Shape 68"/>
          <p:cNvSpPr/>
          <p:nvPr/>
        </p:nvSpPr>
        <p:spPr>
          <a:xfrm>
            <a:off x="7419349" y="3106762"/>
            <a:ext cx="5762469" cy="1251903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8" name="Shape 69"/>
          <p:cNvSpPr/>
          <p:nvPr/>
        </p:nvSpPr>
        <p:spPr>
          <a:xfrm>
            <a:off x="7434589" y="3122002"/>
            <a:ext cx="656695" cy="1193195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9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6154" y="3350484"/>
            <a:ext cx="312803" cy="312803"/>
          </a:xfrm>
          <a:prstGeom prst="rect">
            <a:avLst/>
          </a:prstGeom>
        </p:spPr>
      </p:pic>
      <p:sp>
        <p:nvSpPr>
          <p:cNvPr id="80" name="Text 70"/>
          <p:cNvSpPr/>
          <p:nvPr/>
        </p:nvSpPr>
        <p:spPr>
          <a:xfrm>
            <a:off x="8366281" y="3230231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81" name="Text 71"/>
          <p:cNvSpPr/>
          <p:nvPr/>
        </p:nvSpPr>
        <p:spPr>
          <a:xfrm>
            <a:off x="8366281" y="3429715"/>
            <a:ext cx="4369238" cy="29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Reproduce el audio en bucle.</a:t>
            </a:r>
            <a:endParaRPr lang="en-US" sz="850" dirty="0"/>
          </a:p>
        </p:txBody>
      </p:sp>
      <p:sp>
        <p:nvSpPr>
          <p:cNvPr id="82" name="Shape 72"/>
          <p:cNvSpPr/>
          <p:nvPr/>
        </p:nvSpPr>
        <p:spPr>
          <a:xfrm>
            <a:off x="7419349" y="3810780"/>
            <a:ext cx="5762469" cy="74910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3" name="Shape 73"/>
          <p:cNvSpPr/>
          <p:nvPr/>
        </p:nvSpPr>
        <p:spPr>
          <a:xfrm>
            <a:off x="7434589" y="3826019"/>
            <a:ext cx="656695" cy="733863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4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66154" y="4054500"/>
            <a:ext cx="312803" cy="312803"/>
          </a:xfrm>
          <a:prstGeom prst="rect">
            <a:avLst/>
          </a:prstGeom>
        </p:spPr>
      </p:pic>
      <p:sp>
        <p:nvSpPr>
          <p:cNvPr id="85" name="Text 74"/>
          <p:cNvSpPr/>
          <p:nvPr/>
        </p:nvSpPr>
        <p:spPr>
          <a:xfrm>
            <a:off x="8366281" y="3934247"/>
            <a:ext cx="1715926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endParaRPr lang="en-US" sz="1100" dirty="0"/>
          </a:p>
        </p:txBody>
      </p:sp>
      <p:sp>
        <p:nvSpPr>
          <p:cNvPr id="86" name="Text 75"/>
          <p:cNvSpPr/>
          <p:nvPr/>
        </p:nvSpPr>
        <p:spPr>
          <a:xfrm>
            <a:off x="8366281" y="4135463"/>
            <a:ext cx="4369238" cy="2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Especifica múltiples fuentes de audio.</a:t>
            </a:r>
            <a:endParaRPr lang="en-US" sz="850" dirty="0"/>
          </a:p>
        </p:txBody>
      </p:sp>
      <p:sp>
        <p:nvSpPr>
          <p:cNvPr id="87" name="Shape 76"/>
          <p:cNvSpPr/>
          <p:nvPr/>
        </p:nvSpPr>
        <p:spPr>
          <a:xfrm>
            <a:off x="1433343" y="4858894"/>
            <a:ext cx="11925739" cy="45719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8" name="Text 77"/>
          <p:cNvSpPr/>
          <p:nvPr/>
        </p:nvSpPr>
        <p:spPr>
          <a:xfrm>
            <a:off x="1433343" y="4961114"/>
            <a:ext cx="6558841" cy="59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Hipervínculos </a:t>
            </a:r>
            <a:r>
              <a:rPr lang="en-US" sz="17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: Navegando la Web</a:t>
            </a:r>
            <a:endParaRPr lang="en-US" sz="1750" dirty="0"/>
          </a:p>
        </p:txBody>
      </p:sp>
      <p:sp>
        <p:nvSpPr>
          <p:cNvPr id="89" name="Text 78"/>
          <p:cNvSpPr/>
          <p:nvPr/>
        </p:nvSpPr>
        <p:spPr>
          <a:xfrm>
            <a:off x="1433343" y="5350330"/>
            <a:ext cx="11925739" cy="2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Los enlaces son la columna vertebral de la web, conectando documentos y recursos.</a:t>
            </a:r>
            <a:endParaRPr lang="en-US" sz="850" dirty="0"/>
          </a:p>
        </p:txBody>
      </p:sp>
      <p:sp>
        <p:nvSpPr>
          <p:cNvPr id="90" name="Shape 79"/>
          <p:cNvSpPr/>
          <p:nvPr/>
        </p:nvSpPr>
        <p:spPr>
          <a:xfrm>
            <a:off x="1433343" y="5541187"/>
            <a:ext cx="3920507" cy="2176784"/>
          </a:xfrm>
          <a:prstGeom prst="roundRect">
            <a:avLst>
              <a:gd name="adj" fmla="val 402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1" name="Text 80"/>
          <p:cNvSpPr/>
          <p:nvPr/>
        </p:nvSpPr>
        <p:spPr>
          <a:xfrm>
            <a:off x="1580147" y="5842334"/>
            <a:ext cx="1379066" cy="2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2000" dirty="0"/>
          </a:p>
        </p:txBody>
      </p:sp>
      <p:sp>
        <p:nvSpPr>
          <p:cNvPr id="92" name="Text 81"/>
          <p:cNvSpPr/>
          <p:nvPr/>
        </p:nvSpPr>
        <p:spPr>
          <a:xfrm>
            <a:off x="1549191" y="6312281"/>
            <a:ext cx="3569330" cy="500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 </a:t>
            </a:r>
            <a:r>
              <a:rPr lang="en-US" sz="20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dirección URL</a:t>
            </a: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la </a:t>
            </a:r>
            <a:r>
              <a:rPr lang="en-US" sz="2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que</a:t>
            </a:r>
            <a:endParaRPr lang="en-US" sz="2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endParaRPr lang="en-US" sz="2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apunta el enlace (interna o </a:t>
            </a:r>
          </a:p>
          <a:p>
            <a:pPr marL="0" indent="0" algn="l">
              <a:lnSpc>
                <a:spcPts val="1000"/>
              </a:lnSpc>
              <a:buNone/>
            </a:pPr>
            <a:endParaRPr lang="en-US" sz="2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externa).</a:t>
            </a:r>
            <a:endParaRPr lang="en-US" sz="2000" dirty="0"/>
          </a:p>
        </p:txBody>
      </p:sp>
      <p:sp>
        <p:nvSpPr>
          <p:cNvPr id="93" name="Shape 82"/>
          <p:cNvSpPr/>
          <p:nvPr/>
        </p:nvSpPr>
        <p:spPr>
          <a:xfrm>
            <a:off x="5265830" y="5541187"/>
            <a:ext cx="3920687" cy="2176784"/>
          </a:xfrm>
          <a:prstGeom prst="roundRect">
            <a:avLst>
              <a:gd name="adj" fmla="val 402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4" name="Text 83"/>
          <p:cNvSpPr/>
          <p:nvPr/>
        </p:nvSpPr>
        <p:spPr>
          <a:xfrm>
            <a:off x="5602642" y="5809372"/>
            <a:ext cx="2160294" cy="37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endParaRPr lang="en-US" dirty="0"/>
          </a:p>
        </p:txBody>
      </p:sp>
      <p:sp>
        <p:nvSpPr>
          <p:cNvPr id="95" name="Text 84"/>
          <p:cNvSpPr/>
          <p:nvPr/>
        </p:nvSpPr>
        <p:spPr>
          <a:xfrm>
            <a:off x="5411056" y="6230427"/>
            <a:ext cx="3569510" cy="500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Abre el enlace en </a:t>
            </a:r>
            <a:r>
              <a:rPr lang="en-US" sz="16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una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600" b="1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nueva</a:t>
            </a:r>
            <a:endParaRPr lang="en-US" sz="1600" b="1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endParaRPr lang="en-US" sz="1600" b="1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pestaña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 ventana del navegador.</a:t>
            </a:r>
            <a:endParaRPr lang="en-US" sz="1600" dirty="0"/>
          </a:p>
        </p:txBody>
      </p:sp>
      <p:sp>
        <p:nvSpPr>
          <p:cNvPr id="96" name="Shape 85"/>
          <p:cNvSpPr/>
          <p:nvPr/>
        </p:nvSpPr>
        <p:spPr>
          <a:xfrm>
            <a:off x="9186517" y="5510923"/>
            <a:ext cx="3920507" cy="2176784"/>
          </a:xfrm>
          <a:prstGeom prst="roundRect">
            <a:avLst>
              <a:gd name="adj" fmla="val 402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7" name="Text 86"/>
          <p:cNvSpPr/>
          <p:nvPr/>
        </p:nvSpPr>
        <p:spPr>
          <a:xfrm>
            <a:off x="9302365" y="5813323"/>
            <a:ext cx="2160294" cy="343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Tipos de Enlaces</a:t>
            </a:r>
            <a:endParaRPr lang="en-US" sz="1600" dirty="0"/>
          </a:p>
        </p:txBody>
      </p:sp>
      <p:sp>
        <p:nvSpPr>
          <p:cNvPr id="98" name="Text 87"/>
          <p:cNvSpPr/>
          <p:nvPr/>
        </p:nvSpPr>
        <p:spPr>
          <a:xfrm>
            <a:off x="9302365" y="6350469"/>
            <a:ext cx="3569330" cy="97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Externos: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otros sitios web.</a:t>
            </a:r>
          </a:p>
          <a:p>
            <a:pPr algn="l">
              <a:lnSpc>
                <a:spcPts val="1000"/>
              </a:lnSpc>
              <a:buSzPct val="100000"/>
            </a:pPr>
            <a:endParaRPr lang="en-US" sz="16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Internos: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otras páginas dentro del mismo sitio.</a:t>
            </a:r>
            <a:endParaRPr lang="en-US" sz="16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endParaRPr lang="en-US" sz="1600" b="1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Ancla</a:t>
            </a: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una sección específica dentro de la misma página</a:t>
            </a: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44420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7381" y="1145258"/>
            <a:ext cx="307526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Formularios en HTML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27381" y="1582694"/>
            <a:ext cx="786824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Estructura y Validación para Interacción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27381" y="1773550"/>
            <a:ext cx="1594485" cy="288369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5" name="Text 3"/>
          <p:cNvSpPr/>
          <p:nvPr/>
        </p:nvSpPr>
        <p:spPr>
          <a:xfrm>
            <a:off x="1639142" y="1916781"/>
            <a:ext cx="733187" cy="10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27381" y="2274809"/>
            <a:ext cx="7868245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Los formularios son el puente esencial para la interacción del usuario en la web, permitiendo la recolección y envío de datos. Se construyen con la etiqueta </a:t>
            </a: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cuyos atributos principales controlan cómo y a dónde se envían los datos.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27381" y="2832362"/>
            <a:ext cx="3907036" cy="747951"/>
          </a:xfrm>
          <a:prstGeom prst="roundRect">
            <a:avLst>
              <a:gd name="adj" fmla="val 978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4000"/>
          </a:p>
        </p:txBody>
      </p:sp>
      <p:sp>
        <p:nvSpPr>
          <p:cNvPr id="8" name="Shape 6"/>
          <p:cNvSpPr/>
          <p:nvPr/>
        </p:nvSpPr>
        <p:spPr>
          <a:xfrm>
            <a:off x="1412141" y="2832362"/>
            <a:ext cx="60960" cy="747951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9" name="Text 7"/>
          <p:cNvSpPr/>
          <p:nvPr/>
        </p:nvSpPr>
        <p:spPr>
          <a:xfrm>
            <a:off x="1596569" y="2955830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96569" y="3181572"/>
            <a:ext cx="361438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Especifica la URL (servidor) donde se procesarán los datos del formulario.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88471" y="2832362"/>
            <a:ext cx="3907155" cy="747951"/>
          </a:xfrm>
          <a:prstGeom prst="roundRect">
            <a:avLst>
              <a:gd name="adj" fmla="val 978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4000"/>
          </a:p>
        </p:txBody>
      </p:sp>
      <p:sp>
        <p:nvSpPr>
          <p:cNvPr id="12" name="Shape 10"/>
          <p:cNvSpPr/>
          <p:nvPr/>
        </p:nvSpPr>
        <p:spPr>
          <a:xfrm>
            <a:off x="5373231" y="2832362"/>
            <a:ext cx="60960" cy="747951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13" name="Text 11"/>
          <p:cNvSpPr/>
          <p:nvPr/>
        </p:nvSpPr>
        <p:spPr>
          <a:xfrm>
            <a:off x="5557659" y="2955830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57659" y="3181572"/>
            <a:ext cx="3614499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el método HTTP para enviar los datos: </a:t>
            </a: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(visible en URL) o </a:t>
            </a: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(oculto, para datos sensibles).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96961" y="3771738"/>
            <a:ext cx="7868245" cy="21074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16" name="Shape 14"/>
          <p:cNvSpPr/>
          <p:nvPr/>
        </p:nvSpPr>
        <p:spPr>
          <a:xfrm>
            <a:off x="1396961" y="3964884"/>
            <a:ext cx="2162668" cy="266430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17" name="Text 15"/>
          <p:cNvSpPr/>
          <p:nvPr/>
        </p:nvSpPr>
        <p:spPr>
          <a:xfrm>
            <a:off x="1422244" y="4082995"/>
            <a:ext cx="1131927" cy="10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ELEMENTOS DE ENTRADA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6961" y="4552492"/>
            <a:ext cx="3012519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Tipos de Inputs y Textarea</a:t>
            </a:r>
            <a:endParaRPr lang="en-US" sz="3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61" y="5032033"/>
            <a:ext cx="1111448" cy="11114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96961" y="6481678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Texto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396961" y="6692181"/>
            <a:ext cx="1916311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type="text"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Para una línea simple de texto.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356" y="5050190"/>
            <a:ext cx="1111448" cy="11114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34417" y="6473625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Email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5334417" y="6684128"/>
            <a:ext cx="1916311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type="email"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Espera un formato de correo electrónico válido.</a:t>
            </a:r>
            <a:endParaRPr lang="en-US" sz="1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304" y="5000764"/>
            <a:ext cx="1111448" cy="11114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76304" y="6473625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Número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7976304" y="6684128"/>
            <a:ext cx="1916311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type="number"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Solo permite la entrada de valores numéricos.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1690" y="5000764"/>
            <a:ext cx="1111448" cy="11114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071690" y="6484952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Archivo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11071690" y="6695455"/>
            <a:ext cx="1916430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type="file"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Permite a los usuarios subir uno o varios archivos.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396961" y="7020674"/>
            <a:ext cx="3105685" cy="588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&lt;textarea&gt;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Para entradas de </a:t>
            </a: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</a:t>
            </a:r>
            <a:endParaRPr lang="en-US" sz="14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multilínea, como comentarios o 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descripciones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largas. Permite </a:t>
            </a: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más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14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flexibilidad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que un input de texto simple.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7"/>
          <p:cNvSpPr/>
          <p:nvPr/>
        </p:nvSpPr>
        <p:spPr>
          <a:xfrm>
            <a:off x="1814929" y="571206"/>
            <a:ext cx="1657614" cy="396592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34" name="Text 28"/>
          <p:cNvSpPr/>
          <p:nvPr/>
        </p:nvSpPr>
        <p:spPr>
          <a:xfrm>
            <a:off x="2101479" y="794830"/>
            <a:ext cx="568523" cy="10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787902" y="1152316"/>
            <a:ext cx="271641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Atributos de Validación</a:t>
            </a:r>
            <a:endParaRPr lang="en-US" sz="3600" dirty="0"/>
          </a:p>
        </p:txBody>
      </p:sp>
      <p:sp>
        <p:nvSpPr>
          <p:cNvPr id="36" name="Text 30"/>
          <p:cNvSpPr/>
          <p:nvPr/>
        </p:nvSpPr>
        <p:spPr>
          <a:xfrm>
            <a:off x="1814929" y="1572726"/>
            <a:ext cx="786824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HTML5 ofrece atributos de validación integrados que mejoran la experiencia del usuario y la seguridad de los datos antes de enviarlos al servidor.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1807428" y="2704261"/>
            <a:ext cx="1873925" cy="921093"/>
          </a:xfrm>
          <a:prstGeom prst="roundRect">
            <a:avLst>
              <a:gd name="adj" fmla="val 6031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4000"/>
          </a:p>
        </p:txBody>
      </p:sp>
      <p:sp>
        <p:nvSpPr>
          <p:cNvPr id="38" name="Text 32"/>
          <p:cNvSpPr/>
          <p:nvPr/>
        </p:nvSpPr>
        <p:spPr>
          <a:xfrm>
            <a:off x="1930896" y="2827730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2400" dirty="0"/>
          </a:p>
        </p:txBody>
      </p:sp>
      <p:sp>
        <p:nvSpPr>
          <p:cNvPr id="39" name="Text 33"/>
          <p:cNvSpPr/>
          <p:nvPr/>
        </p:nvSpPr>
        <p:spPr>
          <a:xfrm>
            <a:off x="1930896" y="3075142"/>
            <a:ext cx="16269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 campo debe ser rellenado antes de enviar el formulario.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3804821" y="2550438"/>
            <a:ext cx="3586579" cy="1256633"/>
          </a:xfrm>
          <a:prstGeom prst="roundRect">
            <a:avLst>
              <a:gd name="adj" fmla="val 6031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4000"/>
          </a:p>
        </p:txBody>
      </p:sp>
      <p:sp>
        <p:nvSpPr>
          <p:cNvPr id="41" name="Text 35"/>
          <p:cNvSpPr/>
          <p:nvPr/>
        </p:nvSpPr>
        <p:spPr>
          <a:xfrm>
            <a:off x="3858875" y="2827730"/>
            <a:ext cx="1536621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minlength</a:t>
            </a: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/ </a:t>
            </a: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maxlength</a:t>
            </a:r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3858875" y="3075142"/>
            <a:ext cx="16269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la longitud mínima y máxima del texto permitido.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7661848" y="2476326"/>
            <a:ext cx="2247023" cy="1256633"/>
          </a:xfrm>
          <a:prstGeom prst="roundRect">
            <a:avLst>
              <a:gd name="adj" fmla="val 514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4000"/>
          </a:p>
        </p:txBody>
      </p:sp>
      <p:sp>
        <p:nvSpPr>
          <p:cNvPr id="44" name="Text 38"/>
          <p:cNvSpPr/>
          <p:nvPr/>
        </p:nvSpPr>
        <p:spPr>
          <a:xfrm>
            <a:off x="8072712" y="2762656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/ </a:t>
            </a: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2400" dirty="0"/>
          </a:p>
        </p:txBody>
      </p:sp>
      <p:sp>
        <p:nvSpPr>
          <p:cNvPr id="45" name="Text 39"/>
          <p:cNvSpPr/>
          <p:nvPr/>
        </p:nvSpPr>
        <p:spPr>
          <a:xfrm>
            <a:off x="8072712" y="3010068"/>
            <a:ext cx="162698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Establece los valores mínimo y máximo para inputs numéricos o de fecha.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10319735" y="2364753"/>
            <a:ext cx="2247022" cy="1182521"/>
          </a:xfrm>
          <a:prstGeom prst="roundRect">
            <a:avLst>
              <a:gd name="adj" fmla="val 514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 sz="4000"/>
          </a:p>
        </p:txBody>
      </p:sp>
      <p:sp>
        <p:nvSpPr>
          <p:cNvPr id="47" name="Text 41"/>
          <p:cNvSpPr/>
          <p:nvPr/>
        </p:nvSpPr>
        <p:spPr>
          <a:xfrm>
            <a:off x="10686802" y="2673906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2400" dirty="0"/>
          </a:p>
        </p:txBody>
      </p:sp>
      <p:sp>
        <p:nvSpPr>
          <p:cNvPr id="48" name="Text 42"/>
          <p:cNvSpPr/>
          <p:nvPr/>
        </p:nvSpPr>
        <p:spPr>
          <a:xfrm>
            <a:off x="10686802" y="2921318"/>
            <a:ext cx="162698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Especifica una expresión regular para validar el formato del input.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1629764" y="3992409"/>
            <a:ext cx="7868245" cy="21074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50" name="Shape 44"/>
          <p:cNvSpPr/>
          <p:nvPr/>
        </p:nvSpPr>
        <p:spPr>
          <a:xfrm>
            <a:off x="1665565" y="4192423"/>
            <a:ext cx="2806422" cy="368918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51" name="Text 45"/>
          <p:cNvSpPr/>
          <p:nvPr/>
        </p:nvSpPr>
        <p:spPr>
          <a:xfrm>
            <a:off x="1795343" y="4366883"/>
            <a:ext cx="1395770" cy="10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ACCESIBILIDAD Y ESTRUCTURA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1665565" y="4892144"/>
            <a:ext cx="280642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Mejorando la Usabilidad</a:t>
            </a:r>
            <a:endParaRPr lang="en-US" sz="3600" dirty="0"/>
          </a:p>
        </p:txBody>
      </p:sp>
      <p:sp>
        <p:nvSpPr>
          <p:cNvPr id="53" name="Text 47"/>
          <p:cNvSpPr/>
          <p:nvPr/>
        </p:nvSpPr>
        <p:spPr>
          <a:xfrm>
            <a:off x="1665565" y="5582838"/>
            <a:ext cx="2132767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Accesibilidad Semántica</a:t>
            </a:r>
            <a:endParaRPr lang="en-US" sz="2800" dirty="0"/>
          </a:p>
        </p:txBody>
      </p:sp>
      <p:sp>
        <p:nvSpPr>
          <p:cNvPr id="54" name="Text 48"/>
          <p:cNvSpPr/>
          <p:nvPr/>
        </p:nvSpPr>
        <p:spPr>
          <a:xfrm>
            <a:off x="1690100" y="6058239"/>
            <a:ext cx="3801904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Elementos clave para hacer los formularios comprensibles para todos los usuarios, incluyendo aquellos con necesidades especiales:</a:t>
            </a:r>
            <a:endParaRPr lang="en-US" sz="1400" dirty="0"/>
          </a:p>
        </p:txBody>
      </p:sp>
      <p:sp>
        <p:nvSpPr>
          <p:cNvPr id="55" name="Text 49"/>
          <p:cNvSpPr/>
          <p:nvPr/>
        </p:nvSpPr>
        <p:spPr>
          <a:xfrm>
            <a:off x="1671705" y="6777867"/>
            <a:ext cx="3801904" cy="389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Asocia texto descriptivo a un control de formulario.</a:t>
            </a:r>
            <a:endParaRPr lang="en-US" sz="14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Texto de sugerencia dentro del campo.</a:t>
            </a:r>
            <a:endParaRPr lang="en-US" sz="14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Proporciona información adicional al pasar el cursor.</a:t>
            </a:r>
            <a:endParaRPr lang="en-US" sz="1400" dirty="0"/>
          </a:p>
        </p:txBody>
      </p:sp>
      <p:sp>
        <p:nvSpPr>
          <p:cNvPr id="56" name="Text 50"/>
          <p:cNvSpPr/>
          <p:nvPr/>
        </p:nvSpPr>
        <p:spPr>
          <a:xfrm>
            <a:off x="6466114" y="5610336"/>
            <a:ext cx="1710452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Agrupación y Envío</a:t>
            </a:r>
            <a:endParaRPr lang="en-US" sz="2800" dirty="0"/>
          </a:p>
        </p:txBody>
      </p:sp>
      <p:sp>
        <p:nvSpPr>
          <p:cNvPr id="57" name="Text 51"/>
          <p:cNvSpPr/>
          <p:nvPr/>
        </p:nvSpPr>
        <p:spPr>
          <a:xfrm>
            <a:off x="6466114" y="6192285"/>
            <a:ext cx="380190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Organización lógica y la acción final del formulario:</a:t>
            </a:r>
            <a:endParaRPr lang="en-US" sz="1400" dirty="0"/>
          </a:p>
        </p:txBody>
      </p:sp>
      <p:sp>
        <p:nvSpPr>
          <p:cNvPr id="58" name="Text 52"/>
          <p:cNvSpPr/>
          <p:nvPr/>
        </p:nvSpPr>
        <p:spPr>
          <a:xfrm>
            <a:off x="6523971" y="6559980"/>
            <a:ext cx="3801904" cy="389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&lt;fieldset&gt;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Agrupa controles de formulario relacionados.</a:t>
            </a:r>
            <a:endParaRPr lang="en-US" sz="14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&lt;legend&gt;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Título descriptivo para un </a:t>
            </a: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&lt;fieldset&gt;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4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type="submit"&gt;</a:t>
            </a: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Envía los datos del formulario al servidor.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067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4218" y="6073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Tablas en HTML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124218" y="1044773"/>
            <a:ext cx="786824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Organización de Datos y Estructura Semántica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124218" y="1235631"/>
            <a:ext cx="1267182" cy="168712"/>
          </a:xfrm>
          <a:prstGeom prst="roundRect">
            <a:avLst>
              <a:gd name="adj" fmla="val 21575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6189107" y="1268016"/>
            <a:ext cx="1137404" cy="10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DATOS ESTRUCTURADOS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124218" y="1519238"/>
            <a:ext cx="345269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Uso Correcto: Datos Tabulares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124218" y="1865233"/>
            <a:ext cx="243721" cy="2437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421993" y="1902381"/>
            <a:ext cx="188749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✅</a:t>
            </a:r>
            <a:r>
              <a:rPr lang="en-US" sz="1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Para datos relacionales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21993" y="2142173"/>
            <a:ext cx="3504128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Listados de productos, horarios, información demográfica.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24218" y="2380417"/>
            <a:ext cx="243721" cy="2437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6421993" y="2417564"/>
            <a:ext cx="20827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❌</a:t>
            </a:r>
            <a:r>
              <a:rPr lang="en-US" sz="1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NO para diseño de página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21993" y="2657356"/>
            <a:ext cx="3504128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Evitar tablas para posicionar elementos visuales; usar CSS.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198060" y="1519238"/>
            <a:ext cx="2509480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Elementos Esenciales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0198060" y="2033945"/>
            <a:ext cx="3801904" cy="1524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10198060" y="2118479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198060" y="2365891"/>
            <a:ext cx="380190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Contenedor principal de la tabla.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0198060" y="2799874"/>
            <a:ext cx="3801904" cy="1524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10198060" y="2884408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198060" y="3131820"/>
            <a:ext cx="380190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una fila de la tabla.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0198060" y="3565803"/>
            <a:ext cx="3801904" cy="1524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19"/>
          <p:cNvSpPr/>
          <p:nvPr/>
        </p:nvSpPr>
        <p:spPr>
          <a:xfrm>
            <a:off x="10198060" y="3650337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198060" y="3897749"/>
            <a:ext cx="380190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Celda de encabezado, negrita por defecto.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198060" y="4331732"/>
            <a:ext cx="3801904" cy="1524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10198060" y="4416266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198060" y="4663678"/>
            <a:ext cx="380190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Celda de datos regular.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24218" y="5050687"/>
            <a:ext cx="7868245" cy="21074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5"/>
          <p:cNvSpPr/>
          <p:nvPr/>
        </p:nvSpPr>
        <p:spPr>
          <a:xfrm>
            <a:off x="6124218" y="5152906"/>
            <a:ext cx="462319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Semántica Avanzada y Fusión de Celdas</a:t>
            </a:r>
            <a:endParaRPr lang="en-US" sz="1750" dirty="0"/>
          </a:p>
        </p:txBody>
      </p:sp>
      <p:sp>
        <p:nvSpPr>
          <p:cNvPr id="29" name="Shape 26"/>
          <p:cNvSpPr/>
          <p:nvPr/>
        </p:nvSpPr>
        <p:spPr>
          <a:xfrm>
            <a:off x="6124218" y="5580102"/>
            <a:ext cx="4615220" cy="624364"/>
          </a:xfrm>
          <a:prstGeom prst="roundRect">
            <a:avLst>
              <a:gd name="adj" fmla="val 7287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7"/>
          <p:cNvSpPr/>
          <p:nvPr/>
        </p:nvSpPr>
        <p:spPr>
          <a:xfrm>
            <a:off x="6247686" y="5703570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47686" y="5950982"/>
            <a:ext cx="436828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Grupo de encabezados de columna.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124218" y="6258520"/>
            <a:ext cx="4615220" cy="624364"/>
          </a:xfrm>
          <a:prstGeom prst="roundRect">
            <a:avLst>
              <a:gd name="adj" fmla="val 7287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0"/>
          <p:cNvSpPr/>
          <p:nvPr/>
        </p:nvSpPr>
        <p:spPr>
          <a:xfrm>
            <a:off x="6247686" y="6381988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47686" y="6629400"/>
            <a:ext cx="436828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Contenido principal de datos.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124218" y="6936938"/>
            <a:ext cx="4615220" cy="624364"/>
          </a:xfrm>
          <a:prstGeom prst="roundRect">
            <a:avLst>
              <a:gd name="adj" fmla="val 7287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3"/>
          <p:cNvSpPr/>
          <p:nvPr/>
        </p:nvSpPr>
        <p:spPr>
          <a:xfrm>
            <a:off x="6247686" y="7060406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247686" y="7307818"/>
            <a:ext cx="4368284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Grupo de pies de tabla (ej. totales).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11011376" y="5580102"/>
            <a:ext cx="2988707" cy="609124"/>
          </a:xfrm>
          <a:prstGeom prst="roundRect">
            <a:avLst>
              <a:gd name="adj" fmla="val 4268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6"/>
          <p:cNvSpPr/>
          <p:nvPr/>
        </p:nvSpPr>
        <p:spPr>
          <a:xfrm>
            <a:off x="11127224" y="5695950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colspan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1127224" y="5943362"/>
            <a:ext cx="2757011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Expande celda horizontalmente.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1011376" y="6243280"/>
            <a:ext cx="2988707" cy="609124"/>
          </a:xfrm>
          <a:prstGeom prst="roundRect">
            <a:avLst>
              <a:gd name="adj" fmla="val 4268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39"/>
          <p:cNvSpPr/>
          <p:nvPr/>
        </p:nvSpPr>
        <p:spPr>
          <a:xfrm>
            <a:off x="11127224" y="6359128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rowspan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127224" y="6606540"/>
            <a:ext cx="2757011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Expande celda verticalmente.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9818" y="406122"/>
            <a:ext cx="287857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Semántica en HTML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99818" y="870585"/>
            <a:ext cx="786824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 semántica en HTML es clave para dar </a:t>
            </a:r>
            <a:r>
              <a:rPr lang="en-US" sz="1200" dirty="0">
                <a:solidFill>
                  <a:srgbClr val="3B3535"/>
                </a:solidFill>
                <a:highlight>
                  <a:srgbClr val="D3DCF6"/>
                </a:highlight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significado estructural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tu contenido web, más allá de la apariencia visual.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3528" y="1273266"/>
            <a:ext cx="2905839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Ventajas de la Semántica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1413528" y="1639621"/>
            <a:ext cx="3499128" cy="1536408"/>
          </a:xfrm>
          <a:prstGeom prst="roundRect">
            <a:avLst>
              <a:gd name="adj" fmla="val 42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1529376" y="1755469"/>
            <a:ext cx="324922" cy="324922"/>
          </a:xfrm>
          <a:prstGeom prst="roundRect">
            <a:avLst>
              <a:gd name="adj" fmla="val 28139325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673" y="1844766"/>
            <a:ext cx="146209" cy="1462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9376" y="2243246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Accesibilidad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9376" y="2551023"/>
            <a:ext cx="235493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Mejora la experiencia para usuarios con lectores de pantalla.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84534" y="1639620"/>
            <a:ext cx="3469422" cy="1509994"/>
          </a:xfrm>
          <a:prstGeom prst="roundRect">
            <a:avLst>
              <a:gd name="adj" fmla="val 42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5447558" y="1768315"/>
            <a:ext cx="324922" cy="324922"/>
          </a:xfrm>
          <a:prstGeom prst="roundRect">
            <a:avLst>
              <a:gd name="adj" fmla="val 28139325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6855" y="1857612"/>
            <a:ext cx="146209" cy="1462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3576" y="2260510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62423" y="2551018"/>
            <a:ext cx="235505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Ayuda a los motores de búsqueda a entender el contenido.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902998" y="1639621"/>
            <a:ext cx="3267231" cy="1509993"/>
          </a:xfrm>
          <a:prstGeom prst="roundRect">
            <a:avLst>
              <a:gd name="adj" fmla="val 42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2"/>
          <p:cNvSpPr/>
          <p:nvPr/>
        </p:nvSpPr>
        <p:spPr>
          <a:xfrm>
            <a:off x="9268063" y="1755469"/>
            <a:ext cx="324922" cy="324922"/>
          </a:xfrm>
          <a:prstGeom prst="roundRect">
            <a:avLst>
              <a:gd name="adj" fmla="val 28139325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7360" y="1844766"/>
            <a:ext cx="146209" cy="1462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0015" y="2255345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Mantenibilidad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230015" y="2545853"/>
            <a:ext cx="235493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Código más limpio y fácil de mantener y escalar.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413528" y="3552512"/>
            <a:ext cx="7868245" cy="21074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6"/>
          <p:cNvSpPr/>
          <p:nvPr/>
        </p:nvSpPr>
        <p:spPr>
          <a:xfrm>
            <a:off x="1413528" y="3654731"/>
            <a:ext cx="3914180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Etiquetas Estructurales de HTML5</a:t>
            </a:r>
            <a:endParaRPr lang="en-US" sz="17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3528" y="4021086"/>
            <a:ext cx="7868245" cy="421778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99722" y="4761730"/>
            <a:ext cx="1271461" cy="22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Header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99722" y="5053309"/>
            <a:ext cx="1271461" cy="654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Parte superior ancha con el título del sitio y la identidad de marca.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599722" y="6552509"/>
            <a:ext cx="1271461" cy="22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Main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599722" y="6844088"/>
            <a:ext cx="1271461" cy="52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Área de contenido principal, central y la más grande.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17479" y="6552509"/>
            <a:ext cx="1271461" cy="22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Aside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817479" y="6844088"/>
            <a:ext cx="1271461" cy="52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Información relacionada o widgets a la derecha.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817479" y="4761730"/>
            <a:ext cx="1271461" cy="22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Nav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817479" y="5053309"/>
            <a:ext cx="1271461" cy="654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Enlaces de navegación horizontales o alineados a la izquierda.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/>
          <p:cNvSpPr/>
          <p:nvPr/>
        </p:nvSpPr>
        <p:spPr>
          <a:xfrm>
            <a:off x="1425060" y="1004445"/>
            <a:ext cx="7760018" cy="497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Estas etiquetas dividen la página en secciones lógicas, facilitando tanto la navegación como la </a:t>
            </a:r>
          </a:p>
          <a:p>
            <a:pPr marL="0" indent="0" algn="l">
              <a:lnSpc>
                <a:spcPts val="1000"/>
              </a:lnSpc>
              <a:buNone/>
            </a:pPr>
            <a:endParaRPr lang="en-US" sz="12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100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interpretación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por parte de máquinas y personas.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440299" y="2152957"/>
            <a:ext cx="7868245" cy="64996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27"/>
          <p:cNvSpPr/>
          <p:nvPr/>
        </p:nvSpPr>
        <p:spPr>
          <a:xfrm>
            <a:off x="1455539" y="2168197"/>
            <a:ext cx="433268" cy="619482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103" y="2396678"/>
            <a:ext cx="162401" cy="16240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942862" y="2276425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942862" y="2502168"/>
            <a:ext cx="724221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Contiene la introducción, logos y elementos de navegación principal.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1440299" y="2856974"/>
            <a:ext cx="7868245" cy="64996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Shape 31"/>
          <p:cNvSpPr/>
          <p:nvPr/>
        </p:nvSpPr>
        <p:spPr>
          <a:xfrm>
            <a:off x="1455539" y="2872214"/>
            <a:ext cx="433268" cy="619482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103" y="3100695"/>
            <a:ext cx="162401" cy="162401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942862" y="2980442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1942862" y="3206184"/>
            <a:ext cx="724221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 enlaces de navegación esenciales para el sitio.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1440299" y="3560991"/>
            <a:ext cx="7868245" cy="64996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Shape 35"/>
          <p:cNvSpPr/>
          <p:nvPr/>
        </p:nvSpPr>
        <p:spPr>
          <a:xfrm>
            <a:off x="1455539" y="3576231"/>
            <a:ext cx="433268" cy="619482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7103" y="3804712"/>
            <a:ext cx="162401" cy="162401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942862" y="3630404"/>
            <a:ext cx="1551452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600" dirty="0"/>
          </a:p>
        </p:txBody>
      </p:sp>
      <p:sp>
        <p:nvSpPr>
          <p:cNvPr id="46" name="Text 37"/>
          <p:cNvSpPr/>
          <p:nvPr/>
        </p:nvSpPr>
        <p:spPr>
          <a:xfrm>
            <a:off x="1942862" y="3910201"/>
            <a:ext cx="724221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 contenido principal y único de la página.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1440299" y="4265007"/>
            <a:ext cx="7868245" cy="64996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Shape 39"/>
          <p:cNvSpPr/>
          <p:nvPr/>
        </p:nvSpPr>
        <p:spPr>
          <a:xfrm>
            <a:off x="1455539" y="4280247"/>
            <a:ext cx="433268" cy="619482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7103" y="4508728"/>
            <a:ext cx="162401" cy="162401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942862" y="4388475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1942862" y="4614217"/>
            <a:ext cx="724221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Agrupa contenido relacionado, temáticamente independiente.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1440299" y="4969024"/>
            <a:ext cx="7868245" cy="64996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Shape 43"/>
          <p:cNvSpPr/>
          <p:nvPr/>
        </p:nvSpPr>
        <p:spPr>
          <a:xfrm>
            <a:off x="1455539" y="4984264"/>
            <a:ext cx="433268" cy="619482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7103" y="5212745"/>
            <a:ext cx="162401" cy="162401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942862" y="5092492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aside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56" name="Text 45"/>
          <p:cNvSpPr/>
          <p:nvPr/>
        </p:nvSpPr>
        <p:spPr>
          <a:xfrm>
            <a:off x="1942862" y="5318234"/>
            <a:ext cx="724221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Contenido relacionado pero secundario (ej. barras laterales).</a:t>
            </a:r>
            <a:endParaRPr lang="en-US" sz="1100" dirty="0"/>
          </a:p>
        </p:txBody>
      </p:sp>
      <p:sp>
        <p:nvSpPr>
          <p:cNvPr id="57" name="Shape 46"/>
          <p:cNvSpPr/>
          <p:nvPr/>
        </p:nvSpPr>
        <p:spPr>
          <a:xfrm>
            <a:off x="1440299" y="5673040"/>
            <a:ext cx="7868245" cy="649962"/>
          </a:xfrm>
          <a:prstGeom prst="roundRect">
            <a:avLst>
              <a:gd name="adj" fmla="val 7000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8" name="Shape 47"/>
          <p:cNvSpPr/>
          <p:nvPr/>
        </p:nvSpPr>
        <p:spPr>
          <a:xfrm>
            <a:off x="1455539" y="5688280"/>
            <a:ext cx="433268" cy="619482"/>
          </a:xfrm>
          <a:prstGeom prst="roundRect">
            <a:avLst>
              <a:gd name="adj" fmla="val 6280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7103" y="5916761"/>
            <a:ext cx="162401" cy="162401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942862" y="5796508"/>
            <a:ext cx="1425297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61" name="Text 49"/>
          <p:cNvSpPr/>
          <p:nvPr/>
        </p:nvSpPr>
        <p:spPr>
          <a:xfrm>
            <a:off x="1942862" y="6022251"/>
            <a:ext cx="7242215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Información de copyright, enlaces de contacto, etc.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3694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1611</Words>
  <Application>Microsoft Office PowerPoint</Application>
  <PresentationFormat>Personalizado</PresentationFormat>
  <Paragraphs>283</Paragraphs>
  <Slides>17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Sora Light</vt:lpstr>
      <vt:lpstr>Arial</vt:lpstr>
      <vt:lpstr>Consolas</vt:lpstr>
      <vt:lpstr>Alexandria Semi Bold</vt:lpstr>
      <vt:lpstr>Alexandria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Tomas Ferro Dev</dc:creator>
  <cp:lastModifiedBy>Tomás Ferro</cp:lastModifiedBy>
  <cp:revision>2</cp:revision>
  <dcterms:created xsi:type="dcterms:W3CDTF">2026-02-10T15:43:33Z</dcterms:created>
  <dcterms:modified xsi:type="dcterms:W3CDTF">2026-02-12T22:41:40Z</dcterms:modified>
</cp:coreProperties>
</file>