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4630400" cy="8229600"/>
  <p:notesSz cx="8229600" cy="14630400"/>
  <p:embeddedFontLst>
    <p:embeddedFont>
      <p:font typeface="Instrument Sans Medium" panose="020B0604020202020204" charset="0"/>
      <p:regular r:id="rId33"/>
    </p:embeddedFont>
    <p:embeddedFont>
      <p:font typeface="Instrument Sans Semi Bold" panose="020B0604020202020204" charset="0"/>
      <p:regular r:id="rId34"/>
    </p:embeddedFont>
  </p:embeddedFontLst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AAF800-9816-4B18-B022-24B3A86ACD14}" v="6" dt="2025-07-23T20:11:41.1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54" y="-8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uliano  Espejo Mezzabotta" userId="8580eddc-76de-4a97-be99-d71c60c599f8" providerId="ADAL" clId="{DAAAF800-9816-4B18-B022-24B3A86ACD14}"/>
    <pc:docChg chg="modSld">
      <pc:chgData name="Giuliano  Espejo Mezzabotta" userId="8580eddc-76de-4a97-be99-d71c60c599f8" providerId="ADAL" clId="{DAAAF800-9816-4B18-B022-24B3A86ACD14}" dt="2025-07-23T20:45:19.657" v="106" actId="20577"/>
      <pc:docMkLst>
        <pc:docMk/>
      </pc:docMkLst>
      <pc:sldChg chg="modSp mod">
        <pc:chgData name="Giuliano  Espejo Mezzabotta" userId="8580eddc-76de-4a97-be99-d71c60c599f8" providerId="ADAL" clId="{DAAAF800-9816-4B18-B022-24B3A86ACD14}" dt="2025-07-23T20:45:19.657" v="106" actId="20577"/>
        <pc:sldMkLst>
          <pc:docMk/>
          <pc:sldMk cId="0" sldId="278"/>
        </pc:sldMkLst>
        <pc:spChg chg="mod">
          <ac:chgData name="Giuliano  Espejo Mezzabotta" userId="8580eddc-76de-4a97-be99-d71c60c599f8" providerId="ADAL" clId="{DAAAF800-9816-4B18-B022-24B3A86ACD14}" dt="2025-07-23T20:45:19.657" v="106" actId="20577"/>
          <ac:spMkLst>
            <pc:docMk/>
            <pc:sldMk cId="0" sldId="278"/>
            <ac:spMk id="6" creationId="{00000000-0000-0000-0000-000000000000}"/>
          </ac:spMkLst>
        </pc:spChg>
      </pc:sldChg>
      <pc:sldChg chg="modSp mod">
        <pc:chgData name="Giuliano  Espejo Mezzabotta" userId="8580eddc-76de-4a97-be99-d71c60c599f8" providerId="ADAL" clId="{DAAAF800-9816-4B18-B022-24B3A86ACD14}" dt="2025-07-23T20:45:06.329" v="77" actId="20577"/>
        <pc:sldMkLst>
          <pc:docMk/>
          <pc:sldMk cId="0" sldId="279"/>
        </pc:sldMkLst>
        <pc:spChg chg="mod">
          <ac:chgData name="Giuliano  Espejo Mezzabotta" userId="8580eddc-76de-4a97-be99-d71c60c599f8" providerId="ADAL" clId="{DAAAF800-9816-4B18-B022-24B3A86ACD14}" dt="2025-07-23T20:45:06.329" v="77" actId="20577"/>
          <ac:spMkLst>
            <pc:docMk/>
            <pc:sldMk cId="0" sldId="279"/>
            <ac:spMk id="5" creationId="{00000000-0000-0000-0000-000000000000}"/>
          </ac:spMkLst>
        </pc:spChg>
      </pc:sldChg>
      <pc:sldChg chg="modSp mod">
        <pc:chgData name="Giuliano  Espejo Mezzabotta" userId="8580eddc-76de-4a97-be99-d71c60c599f8" providerId="ADAL" clId="{DAAAF800-9816-4B18-B022-24B3A86ACD14}" dt="2025-07-23T20:08:04.232" v="19" actId="20577"/>
        <pc:sldMkLst>
          <pc:docMk/>
          <pc:sldMk cId="0" sldId="280"/>
        </pc:sldMkLst>
        <pc:spChg chg="mod">
          <ac:chgData name="Giuliano  Espejo Mezzabotta" userId="8580eddc-76de-4a97-be99-d71c60c599f8" providerId="ADAL" clId="{DAAAF800-9816-4B18-B022-24B3A86ACD14}" dt="2025-07-23T20:08:04.232" v="19" actId="20577"/>
          <ac:spMkLst>
            <pc:docMk/>
            <pc:sldMk cId="0" sldId="280"/>
            <ac:spMk id="5" creationId="{00000000-0000-0000-0000-000000000000}"/>
          </ac:spMkLst>
        </pc:spChg>
      </pc:sldChg>
      <pc:sldChg chg="modSp mod">
        <pc:chgData name="Giuliano  Espejo Mezzabotta" userId="8580eddc-76de-4a97-be99-d71c60c599f8" providerId="ADAL" clId="{DAAAF800-9816-4B18-B022-24B3A86ACD14}" dt="2025-07-23T20:09:20.280" v="50" actId="20577"/>
        <pc:sldMkLst>
          <pc:docMk/>
          <pc:sldMk cId="0" sldId="282"/>
        </pc:sldMkLst>
        <pc:spChg chg="mod">
          <ac:chgData name="Giuliano  Espejo Mezzabotta" userId="8580eddc-76de-4a97-be99-d71c60c599f8" providerId="ADAL" clId="{DAAAF800-9816-4B18-B022-24B3A86ACD14}" dt="2025-07-23T20:09:20.280" v="50" actId="20577"/>
          <ac:spMkLst>
            <pc:docMk/>
            <pc:sldMk cId="0" sldId="282"/>
            <ac:spMk id="6" creationId="{00000000-0000-0000-0000-000000000000}"/>
          </ac:spMkLst>
        </pc:spChg>
      </pc:sldChg>
      <pc:sldChg chg="modSp mod">
        <pc:chgData name="Giuliano  Espejo Mezzabotta" userId="8580eddc-76de-4a97-be99-d71c60c599f8" providerId="ADAL" clId="{DAAAF800-9816-4B18-B022-24B3A86ACD14}" dt="2025-07-23T20:10:29.985" v="68" actId="20577"/>
        <pc:sldMkLst>
          <pc:docMk/>
          <pc:sldMk cId="0" sldId="283"/>
        </pc:sldMkLst>
        <pc:spChg chg="mod">
          <ac:chgData name="Giuliano  Espejo Mezzabotta" userId="8580eddc-76de-4a97-be99-d71c60c599f8" providerId="ADAL" clId="{DAAAF800-9816-4B18-B022-24B3A86ACD14}" dt="2025-07-23T20:10:29.985" v="68" actId="20577"/>
          <ac:spMkLst>
            <pc:docMk/>
            <pc:sldMk cId="0" sldId="283"/>
            <ac:spMk id="5" creationId="{00000000-0000-0000-0000-000000000000}"/>
          </ac:spMkLst>
        </pc:spChg>
      </pc:sldChg>
      <pc:sldChg chg="modSp mod">
        <pc:chgData name="Giuliano  Espejo Mezzabotta" userId="8580eddc-76de-4a97-be99-d71c60c599f8" providerId="ADAL" clId="{DAAAF800-9816-4B18-B022-24B3A86ACD14}" dt="2025-07-23T20:11:59.848" v="74" actId="6549"/>
        <pc:sldMkLst>
          <pc:docMk/>
          <pc:sldMk cId="0" sldId="284"/>
        </pc:sldMkLst>
        <pc:spChg chg="mod">
          <ac:chgData name="Giuliano  Espejo Mezzabotta" userId="8580eddc-76de-4a97-be99-d71c60c599f8" providerId="ADAL" clId="{DAAAF800-9816-4B18-B022-24B3A86ACD14}" dt="2025-07-23T20:11:59.848" v="74" actId="6549"/>
          <ac:spMkLst>
            <pc:docMk/>
            <pc:sldMk cId="0" sldId="284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9943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28355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Java y sus Tips: Colecciones en Java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4566166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Una guía completa sobre el framework de colecciones en Java, sus interfaces, implementaciones y ejemplos prácticos.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17909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Agenda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334822"/>
            <a:ext cx="6422231" cy="1189196"/>
          </a:xfrm>
          <a:prstGeom prst="roundRect">
            <a:avLst>
              <a:gd name="adj" fmla="val 15021"/>
            </a:avLst>
          </a:prstGeom>
          <a:noFill/>
          <a:ln w="2286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1015008" y="3556040"/>
            <a:ext cx="316861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Introducción a Colecciones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15008" y="3985260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Conceptos básicos y estructura del framework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414379" y="3334822"/>
            <a:ext cx="6422231" cy="1189196"/>
          </a:xfrm>
          <a:prstGeom prst="roundRect">
            <a:avLst>
              <a:gd name="adj" fmla="val 15021"/>
            </a:avLst>
          </a:prstGeom>
          <a:noFill/>
          <a:ln w="2286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7635597" y="3556040"/>
            <a:ext cx="300287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Interfaces de Colecciones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635597" y="3985260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Collection, List, Set, Queue, Map y sus variantes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93790" y="4722376"/>
            <a:ext cx="6422231" cy="1189196"/>
          </a:xfrm>
          <a:prstGeom prst="roundRect">
            <a:avLst>
              <a:gd name="adj" fmla="val 15021"/>
            </a:avLst>
          </a:prstGeom>
          <a:noFill/>
          <a:ln w="2286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1015008" y="4943594"/>
            <a:ext cx="343721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Implementaciones Concretas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15008" y="5372814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ArrayList, LinkedList, HashSet, HashMap y más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414379" y="4722376"/>
            <a:ext cx="6422231" cy="1189196"/>
          </a:xfrm>
          <a:prstGeom prst="roundRect">
            <a:avLst>
              <a:gd name="adj" fmla="val 15021"/>
            </a:avLst>
          </a:prstGeom>
          <a:noFill/>
          <a:ln w="2286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7635597" y="494359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Ejemplos Prácticos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635597" y="5372814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Código y explicaciones de HashSet y HashMap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8070" y="514350"/>
            <a:ext cx="7649289" cy="584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Introducción a Colecciones en Java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48070" y="1547455"/>
            <a:ext cx="6339007" cy="119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 Java, las colecciones son estructuras de datos diseñadas para almacenar y manipular grupos de objetos. La plataforma Java proporciona un conjunto robusto de clases e interfaces para este propósito, todas agrupadas en el paquete java.util.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48070" y="2912507"/>
            <a:ext cx="6339007" cy="897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 jerarquía de colecciones se basa principalmente en interfaces que definen el comportamiento, y clases que proporcionan implementaciones concretas de esas interfaces.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944" y="1589603"/>
            <a:ext cx="6339007" cy="63390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10878"/>
            <a:ext cx="757058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Árbol y Jerarquía de Colecciones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759" y="2327791"/>
            <a:ext cx="1291233" cy="7068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14775" y="2582942"/>
            <a:ext cx="279083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21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4898350" y="2526149"/>
            <a:ext cx="120467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Collection</a:t>
            </a:r>
            <a:endParaRPr lang="en-US" sz="1950" dirty="0"/>
          </a:p>
        </p:txBody>
      </p:sp>
      <p:sp>
        <p:nvSpPr>
          <p:cNvPr id="6" name="Shape 3"/>
          <p:cNvSpPr/>
          <p:nvPr/>
        </p:nvSpPr>
        <p:spPr>
          <a:xfrm>
            <a:off x="4749522" y="3049905"/>
            <a:ext cx="9037558" cy="11430"/>
          </a:xfrm>
          <a:prstGeom prst="roundRect">
            <a:avLst>
              <a:gd name="adj" fmla="val 1562792"/>
            </a:avLst>
          </a:prstGeom>
          <a:solidFill>
            <a:srgbClr val="B4CCE3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3203" y="3084195"/>
            <a:ext cx="2582466" cy="70687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14894" y="3263146"/>
            <a:ext cx="279083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21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150" dirty="0"/>
          </a:p>
        </p:txBody>
      </p:sp>
      <p:sp>
        <p:nvSpPr>
          <p:cNvPr id="9" name="Text 5"/>
          <p:cNvSpPr/>
          <p:nvPr/>
        </p:nvSpPr>
        <p:spPr>
          <a:xfrm>
            <a:off x="5544026" y="3282553"/>
            <a:ext cx="182856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List, Set, Queue</a:t>
            </a:r>
            <a:endParaRPr lang="en-US" sz="1950" dirty="0"/>
          </a:p>
        </p:txBody>
      </p:sp>
      <p:sp>
        <p:nvSpPr>
          <p:cNvPr id="10" name="Shape 6"/>
          <p:cNvSpPr/>
          <p:nvPr/>
        </p:nvSpPr>
        <p:spPr>
          <a:xfrm>
            <a:off x="5395198" y="3806309"/>
            <a:ext cx="8391882" cy="11430"/>
          </a:xfrm>
          <a:prstGeom prst="roundRect">
            <a:avLst>
              <a:gd name="adj" fmla="val 1562792"/>
            </a:avLst>
          </a:prstGeom>
          <a:solidFill>
            <a:srgbClr val="B4CCE3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7527" y="3840599"/>
            <a:ext cx="3873698" cy="70687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914775" y="4019550"/>
            <a:ext cx="279083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21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150" dirty="0"/>
          </a:p>
        </p:txBody>
      </p:sp>
      <p:sp>
        <p:nvSpPr>
          <p:cNvPr id="13" name="Text 8"/>
          <p:cNvSpPr/>
          <p:nvPr/>
        </p:nvSpPr>
        <p:spPr>
          <a:xfrm>
            <a:off x="6189583" y="4038957"/>
            <a:ext cx="208180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SortedSet, Deque</a:t>
            </a:r>
            <a:endParaRPr lang="en-US" sz="1950" dirty="0"/>
          </a:p>
        </p:txBody>
      </p:sp>
      <p:sp>
        <p:nvSpPr>
          <p:cNvPr id="14" name="Shape 9"/>
          <p:cNvSpPr/>
          <p:nvPr/>
        </p:nvSpPr>
        <p:spPr>
          <a:xfrm>
            <a:off x="6040755" y="4562713"/>
            <a:ext cx="7746325" cy="11430"/>
          </a:xfrm>
          <a:prstGeom prst="roundRect">
            <a:avLst>
              <a:gd name="adj" fmla="val 1562792"/>
            </a:avLst>
          </a:prstGeom>
          <a:solidFill>
            <a:srgbClr val="B4CCE3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1970" y="4597003"/>
            <a:ext cx="5164931" cy="70687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914775" y="4775954"/>
            <a:ext cx="279083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21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</a:t>
            </a:r>
            <a:endParaRPr lang="en-US" sz="2150" dirty="0"/>
          </a:p>
        </p:txBody>
      </p:sp>
      <p:sp>
        <p:nvSpPr>
          <p:cNvPr id="17" name="Text 11"/>
          <p:cNvSpPr/>
          <p:nvPr/>
        </p:nvSpPr>
        <p:spPr>
          <a:xfrm>
            <a:off x="6835259" y="4795361"/>
            <a:ext cx="155412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NavigableSet</a:t>
            </a:r>
            <a:endParaRPr lang="en-US" sz="1950" dirty="0"/>
          </a:p>
        </p:txBody>
      </p:sp>
      <p:sp>
        <p:nvSpPr>
          <p:cNvPr id="18" name="Shape 12"/>
          <p:cNvSpPr/>
          <p:nvPr/>
        </p:nvSpPr>
        <p:spPr>
          <a:xfrm>
            <a:off x="6686431" y="5319117"/>
            <a:ext cx="7100649" cy="11430"/>
          </a:xfrm>
          <a:prstGeom prst="roundRect">
            <a:avLst>
              <a:gd name="adj" fmla="val 1562792"/>
            </a:avLst>
          </a:prstGeom>
          <a:solidFill>
            <a:srgbClr val="B4CCE3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294" y="5353407"/>
            <a:ext cx="6456164" cy="70687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914775" y="5532358"/>
            <a:ext cx="279083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21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5</a:t>
            </a:r>
            <a:endParaRPr lang="en-US" sz="2150" dirty="0"/>
          </a:p>
        </p:txBody>
      </p:sp>
      <p:sp>
        <p:nvSpPr>
          <p:cNvPr id="21" name="Text 14"/>
          <p:cNvSpPr/>
          <p:nvPr/>
        </p:nvSpPr>
        <p:spPr>
          <a:xfrm>
            <a:off x="7480816" y="5551765"/>
            <a:ext cx="343721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Implementaciones Concretas</a:t>
            </a:r>
            <a:endParaRPr lang="en-US" sz="1950" dirty="0"/>
          </a:p>
        </p:txBody>
      </p:sp>
      <p:sp>
        <p:nvSpPr>
          <p:cNvPr id="22" name="Text 15"/>
          <p:cNvSpPr/>
          <p:nvPr/>
        </p:nvSpPr>
        <p:spPr>
          <a:xfrm>
            <a:off x="793790" y="6283523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 jerarquía de colecciones en Java está organizada de manera que las interfaces definen comportamientos y las clases proporcionan implementaciones específicas.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338393"/>
            <a:ext cx="600729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Interfaces de Colecciones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4256127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Estas interfaces establecen el contrato para las diferentes categorías de colecciones en Java.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8070" y="514350"/>
            <a:ext cx="4676061" cy="584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Collection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48070" y="1547455"/>
            <a:ext cx="6339007" cy="59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 la interfaz raíz en la jerarquía de colecciones. Define los métodos comunes que todas las colecciones deben implementar, como: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48070" y="2314099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add()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8070" y="2678668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remove()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48070" y="3043237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size()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8070" y="3407807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isEmpty()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48070" y="3772376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contains()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8070" y="4239816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 se puede instanciar directamente, ya que es una interfaz.</a:t>
            </a:r>
            <a:endParaRPr lang="en-US" sz="14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944" y="1589603"/>
            <a:ext cx="6339007" cy="63390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42680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Interfaz List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6280190" y="2635210"/>
            <a:ext cx="7556421" cy="91440"/>
          </a:xfrm>
          <a:prstGeom prst="roundRect">
            <a:avLst>
              <a:gd name="adj" fmla="val 195349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Shape 2"/>
          <p:cNvSpPr/>
          <p:nvPr/>
        </p:nvSpPr>
        <p:spPr>
          <a:xfrm>
            <a:off x="9760744" y="2360414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3"/>
          <p:cNvSpPr/>
          <p:nvPr/>
        </p:nvSpPr>
        <p:spPr>
          <a:xfrm>
            <a:off x="9939338" y="2509242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501408" y="315420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Características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6501408" y="3583424"/>
            <a:ext cx="711398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Hereda de Collection. Representa una colección ordenada (secuencia) que permite elementos duplicados. Los elementos en una List tienen un índice.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280190" y="4912876"/>
            <a:ext cx="7556421" cy="91440"/>
          </a:xfrm>
          <a:prstGeom prst="roundRect">
            <a:avLst>
              <a:gd name="adj" fmla="val 195349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Shape 7"/>
          <p:cNvSpPr/>
          <p:nvPr/>
        </p:nvSpPr>
        <p:spPr>
          <a:xfrm>
            <a:off x="9760744" y="4638080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Text 8"/>
          <p:cNvSpPr/>
          <p:nvPr/>
        </p:nvSpPr>
        <p:spPr>
          <a:xfrm>
            <a:off x="9939338" y="4786908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6501408" y="543186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Implementaciones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6501408" y="5861090"/>
            <a:ext cx="711398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ArrayList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6501408" y="6248043"/>
            <a:ext cx="711398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LinkedList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89559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Interfaz Set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481268"/>
            <a:ext cx="6422231" cy="91440"/>
          </a:xfrm>
          <a:prstGeom prst="roundRect">
            <a:avLst>
              <a:gd name="adj" fmla="val 195349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3707249" y="3206472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3885843" y="3355300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015008" y="400026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Características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15008" y="4429482"/>
            <a:ext cx="597979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Hereda de Collection. Representa una colección que no permite elementos duplicados. El orden de los elementos no está garantizado, a menos que se use una implementación específica.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414379" y="3481268"/>
            <a:ext cx="6422231" cy="91440"/>
          </a:xfrm>
          <a:prstGeom prst="roundRect">
            <a:avLst>
              <a:gd name="adj" fmla="val 195349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Shape 7"/>
          <p:cNvSpPr/>
          <p:nvPr/>
        </p:nvSpPr>
        <p:spPr>
          <a:xfrm>
            <a:off x="10327838" y="3206472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10506432" y="3355300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7635597" y="400026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Extensiones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635597" y="4429482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SortedSet: Extiende Set. Mantiene sus elementos ordenados.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635597" y="4866084"/>
            <a:ext cx="597979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NavigableSet: Extiende SortedSet. Proporciona métodos adicionales para navegar por los elementos, como lower(), floor(), ceiling(), higher().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97718"/>
            <a:ext cx="593336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Implementaciones de Set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714631"/>
            <a:ext cx="496133" cy="4961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37930" y="383238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HashSet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537930" y="4261604"/>
            <a:ext cx="343804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 mantiene un orden específico. Implementación más rápida para operaciones básicas.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3986" y="3714631"/>
            <a:ext cx="496133" cy="4961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68127" y="383238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TreeSet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5968127" y="4261604"/>
            <a:ext cx="3438168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Implementa SortedSet y NavigableSet, mantiene los elementos ordenados usando un árbol rojo-negro.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4302" y="3714631"/>
            <a:ext cx="496133" cy="49613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398443" y="383238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LinkedHashSet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0398443" y="4261604"/>
            <a:ext cx="343816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Mantiene el orden de inserción combinando una tabla hash con una lista enlazada.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8070" y="514350"/>
            <a:ext cx="4676061" cy="584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Interfaz Queue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48070" y="1547455"/>
            <a:ext cx="6339007" cy="897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Hereda de Collection. Diseñada para contener elementos antes de ser procesados, siguiendo generalmente un principio FIFO (First-In, First-Out).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48070" y="2631996"/>
            <a:ext cx="3295769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Deque (Double Ended Queue)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8070" y="3111222"/>
            <a:ext cx="6339007" cy="59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Extiende Queue. Permite la inserción y eliminación de elementos en ambos extremos.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944" y="1589603"/>
            <a:ext cx="6339007" cy="63390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94146"/>
            <a:ext cx="670286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Implementaciones de Queue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711059"/>
            <a:ext cx="6422231" cy="1824276"/>
          </a:xfrm>
          <a:prstGeom prst="roundRect">
            <a:avLst>
              <a:gd name="adj" fmla="val 6015"/>
            </a:avLst>
          </a:prstGeom>
          <a:noFill/>
          <a:ln w="2286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770930" y="3711059"/>
            <a:ext cx="91440" cy="1824276"/>
          </a:xfrm>
          <a:prstGeom prst="roundRect">
            <a:avLst>
              <a:gd name="adj" fmla="val 195349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1083588" y="393227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PriorityQueue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83588" y="4361498"/>
            <a:ext cx="591121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Implementa Queue, basada en un heap para prioridad. Los elementos se procesan según su orden natural o un comparador proporcionado.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14379" y="3711059"/>
            <a:ext cx="6422231" cy="1824276"/>
          </a:xfrm>
          <a:prstGeom prst="roundRect">
            <a:avLst>
              <a:gd name="adj" fmla="val 6015"/>
            </a:avLst>
          </a:prstGeom>
          <a:noFill/>
          <a:ln w="2286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Shape 6"/>
          <p:cNvSpPr/>
          <p:nvPr/>
        </p:nvSpPr>
        <p:spPr>
          <a:xfrm>
            <a:off x="7391519" y="3711059"/>
            <a:ext cx="91440" cy="1824276"/>
          </a:xfrm>
          <a:prstGeom prst="roundRect">
            <a:avLst>
              <a:gd name="adj" fmla="val 195349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7704177" y="393227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ArrayDeque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704177" y="4361498"/>
            <a:ext cx="591121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Implementa Deque, una cola de doble extremo basada en un array redimensionable. Permite operaciones eficientes en ambos extremos.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8070" y="514350"/>
            <a:ext cx="4676061" cy="584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Interfaz Map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48070" y="1547455"/>
            <a:ext cx="6339007" cy="59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 extiende de Collection, pero es una parte fundamental del framework de colecciones. Representa un objeto que mapea claves a valores.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48070" y="2314099"/>
            <a:ext cx="6339007" cy="59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 permite claves duplicadas; si se inserta una clave existente, el valor asociado se actualiza.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944" y="1589603"/>
            <a:ext cx="6339007" cy="633900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20171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Extensiones de Map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337084"/>
            <a:ext cx="4347567" cy="7937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92148" y="432923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Map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992148" y="4758452"/>
            <a:ext cx="395085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Interfaz base para mapeo de claves a valores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3337084"/>
            <a:ext cx="4347567" cy="7937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39715" y="432923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SortedMap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5339715" y="4758452"/>
            <a:ext cx="395085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Extiende Map. Mantiene sus entradas ordenadas por la clave.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3337084"/>
            <a:ext cx="4347567" cy="79379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87282" y="432923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NavigableMap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9687282" y="4758452"/>
            <a:ext cx="395085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Extiende SortedMap. Proporciona métodos adicionales para navegar por las entradas del mapa.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97718"/>
            <a:ext cx="616946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Implementaciones de Map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714631"/>
            <a:ext cx="496133" cy="4961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37930" y="383238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HashMap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537930" y="4261604"/>
            <a:ext cx="343804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 mantiene un orden específico. Implementación más rápida para operaciones básicas.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3986" y="3714631"/>
            <a:ext cx="496133" cy="4961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68127" y="383238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TreeMap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5968127" y="4261604"/>
            <a:ext cx="3438168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Implementa SortedMap y NavigableMap, mantiene las entradas ordenadas por clave usando un árbol rojo-negro.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4302" y="3714631"/>
            <a:ext cx="496133" cy="49613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398443" y="383238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LinkedHashMap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0398443" y="4261604"/>
            <a:ext cx="343816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Mantiene un orden de inserción o de acceso utilizando una tabla hash y una lista enlazada.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338393"/>
            <a:ext cx="521993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Clases de Colecciones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4256127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Estas clases son las implementaciones tangibles de las interfaces mencionadas anteriormente.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8070" y="514350"/>
            <a:ext cx="4676061" cy="584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ArrayList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48070" y="1547455"/>
            <a:ext cx="6339007" cy="59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Implementa la interfaz List. Es una lista redimensionable basada en un array. Ideal para acceso por índice rápido.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48070" y="2314099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Características principales: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8070" y="2781538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Acceso rápido por índice (O(1))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48070" y="3146108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Inserción/eliminación lenta en medio (O(n))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8070" y="3510677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Redimensionable automáticamente</a:t>
            </a:r>
            <a:endParaRPr lang="en-US" sz="14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944" y="1589603"/>
            <a:ext cx="6339007" cy="633900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8070" y="514350"/>
            <a:ext cx="4676061" cy="584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LinkedList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48070" y="1547455"/>
            <a:ext cx="6339007" cy="59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Implementa las interfaces List y Deque. Es una lista doblemente enlazada. Eficiente para inserciones y eliminaciones en los extremos o el medio.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48070" y="2314099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Características principales: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8070" y="2781538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Acceso lento por índice (O(n))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48070" y="3146108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Inserción/eliminación rápida en cualquier posición (O(1))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8070" y="3510677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Implementa tanto List como Deque</a:t>
            </a:r>
            <a:endParaRPr lang="en-US" sz="14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944" y="1589603"/>
            <a:ext cx="6339007" cy="633900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8070" y="514350"/>
            <a:ext cx="4676061" cy="584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HashSet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48070" y="1547455"/>
            <a:ext cx="6339007" cy="59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Implementa la interfaz Set. Utiliza una tabla hash para almacenar elementos. No garantiza un orden.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48070" y="2314099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Características principales: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8070" y="2781538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Operaciones rápidas (add, remove, contains) en O(1)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48070" y="3146108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 permite duplicados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8070" y="3510677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 mantiene orden específico</a:t>
            </a:r>
            <a:endParaRPr lang="en-US" sz="14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944" y="1589603"/>
            <a:ext cx="6339007" cy="633900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8070" y="514350"/>
            <a:ext cx="4676061" cy="584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TreeSet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48070" y="1547455"/>
            <a:ext cx="6339007" cy="59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Implementa las interfaces SortedSet y NavigableSet. Utiliza un árbol rojo-negro para almacenar elementos, manteniéndolos ordenados.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48070" y="2314099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Características principales: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8070" y="2781538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Elementos siempre ordenados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48070" y="3146108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Operaciones en O(log n)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8070" y="3510677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Proporciona métodos de navegación</a:t>
            </a:r>
            <a:endParaRPr lang="en-US" sz="14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944" y="1589603"/>
            <a:ext cx="6339007" cy="633900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8070" y="514350"/>
            <a:ext cx="4676061" cy="584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HashMap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48070" y="1547455"/>
            <a:ext cx="6339007" cy="59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Implementa la interfaz Map. Utiliza una tabla hash para almacenar entradas (pares clave-valor). No garantiza un orden.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48070" y="2314099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Características principales: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8070" y="2781538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Operaciones rápidas (put, get, remove) en O(1)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48070" y="3146108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 permite claves duplicadas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8070" y="3510677"/>
            <a:ext cx="633900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Permite un valor nulo y múltiples claves nulas</a:t>
            </a:r>
            <a:endParaRPr lang="en-US" sz="14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944" y="1589603"/>
            <a:ext cx="6339007" cy="633900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00369"/>
            <a:ext cx="809898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Otras Clases e Interfaces Utilitarias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017282"/>
            <a:ext cx="6422231" cy="1506736"/>
          </a:xfrm>
          <a:prstGeom prst="roundRect">
            <a:avLst>
              <a:gd name="adj" fmla="val 11855"/>
            </a:avLst>
          </a:prstGeom>
          <a:noFill/>
          <a:ln w="2286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1015008" y="323850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Iterator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15008" y="3667720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Una interfaz fundamental para recorrer los elementos de cualquier Collection.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414379" y="3017282"/>
            <a:ext cx="6422231" cy="1506736"/>
          </a:xfrm>
          <a:prstGeom prst="roundRect">
            <a:avLst>
              <a:gd name="adj" fmla="val 11855"/>
            </a:avLst>
          </a:prstGeom>
          <a:noFill/>
          <a:ln w="2286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7635597" y="323850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ListIterator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635597" y="3667720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Una interfaz que extiende Iterator, específica para recorrer los elementos de una List en ambas direcciones.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93790" y="4722376"/>
            <a:ext cx="6422231" cy="1506736"/>
          </a:xfrm>
          <a:prstGeom prst="roundRect">
            <a:avLst>
              <a:gd name="adj" fmla="val 11855"/>
            </a:avLst>
          </a:prstGeom>
          <a:noFill/>
          <a:ln w="2286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1015008" y="494359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Collections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15008" y="5372814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Una clase de utilidad que proporciona métodos estáticos para operar en colecciones, como ordenar, buscar o sincronizar.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414379" y="4722376"/>
            <a:ext cx="6422231" cy="1506736"/>
          </a:xfrm>
          <a:prstGeom prst="roundRect">
            <a:avLst>
              <a:gd name="adj" fmla="val 11855"/>
            </a:avLst>
          </a:prstGeom>
          <a:noFill/>
          <a:ln w="2286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7635597" y="494359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Arrays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635597" y="5372814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Una clase de utilidad que proporciona métodos estáticos para operar directamente en arrays.</a:t>
            </a:r>
            <a:endParaRPr lang="en-US" sz="15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0484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737616"/>
            <a:ext cx="812625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Ejemplos Prácticos de Colecciones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565535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continuación, se presentan ejemplos de código para HashSet y HashMap, dos de las colecciones más utilizadas en Java.</a:t>
            </a:r>
            <a:endParaRPr lang="en-US" sz="15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7234" y="501610"/>
            <a:ext cx="4545211" cy="568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Ejemplo de HashSet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27234" y="1433393"/>
            <a:ext cx="13175933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 HashSet es una colección que no permite elementos duplicados y no garantiza un orden específico de los elementos.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27234" y="1928693"/>
            <a:ext cx="13175933" cy="5799177"/>
          </a:xfrm>
          <a:prstGeom prst="roundRect">
            <a:avLst>
              <a:gd name="adj" fmla="val 2822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718185" y="1928693"/>
            <a:ext cx="13194030" cy="5799177"/>
          </a:xfrm>
          <a:prstGeom prst="roundRect">
            <a:avLst>
              <a:gd name="adj" fmla="val 470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899993" y="2065020"/>
            <a:ext cx="12830413" cy="5526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0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import </a:t>
            </a:r>
            <a:r>
              <a:rPr lang="en-US" sz="140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java.util.HashSet</a:t>
            </a:r>
            <a:r>
              <a:rPr lang="en-US" sz="140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;</a:t>
            </a:r>
          </a:p>
          <a:p>
            <a:pPr>
              <a:lnSpc>
                <a:spcPts val="2250"/>
              </a:lnSpc>
            </a:pPr>
            <a:r>
              <a:rPr lang="en-US" sz="140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import </a:t>
            </a:r>
            <a:r>
              <a:rPr lang="en-US" sz="140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java.util.Set</a:t>
            </a:r>
            <a:r>
              <a:rPr lang="en-US" sz="140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;</a:t>
            </a:r>
          </a:p>
          <a:p>
            <a:pPr>
              <a:lnSpc>
                <a:spcPts val="2250"/>
              </a:lnSpc>
            </a:pPr>
            <a:endParaRPr lang="en-US" sz="1400" dirty="0">
              <a:solidFill>
                <a:srgbClr val="1E3063"/>
              </a:solidFill>
              <a:latin typeface="Consolas Medium" pitchFamily="34" charset="0"/>
              <a:ea typeface="Consolas Medium" pitchFamily="34" charset="-122"/>
              <a:cs typeface="Consolas Medium" pitchFamily="34" charset="-120"/>
            </a:endParaRPr>
          </a:p>
          <a:p>
            <a:pPr>
              <a:lnSpc>
                <a:spcPts val="2250"/>
              </a:lnSpc>
            </a:pPr>
            <a:r>
              <a:rPr lang="en-US" sz="140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public class </a:t>
            </a:r>
            <a:r>
              <a:rPr lang="en-US" sz="140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EjemploHashSet</a:t>
            </a:r>
            <a:r>
              <a:rPr lang="en-US" sz="140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{</a:t>
            </a:r>
          </a:p>
          <a:p>
            <a:pPr>
              <a:lnSpc>
                <a:spcPts val="2250"/>
              </a:lnSpc>
            </a:pPr>
            <a:endParaRPr lang="en-US" sz="1400" dirty="0">
              <a:solidFill>
                <a:srgbClr val="1E3063"/>
              </a:solidFill>
              <a:latin typeface="Consolas Medium" pitchFamily="34" charset="0"/>
              <a:ea typeface="Consolas Medium" pitchFamily="34" charset="-122"/>
              <a:cs typeface="Consolas Medium" pitchFamily="34" charset="-120"/>
            </a:endParaRPr>
          </a:p>
          <a:p>
            <a:pPr>
              <a:lnSpc>
                <a:spcPts val="2250"/>
              </a:lnSpc>
            </a:pPr>
            <a:r>
              <a:rPr lang="en-US" sz="140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    public static void main(String[] </a:t>
            </a:r>
            <a:r>
              <a:rPr lang="en-US" sz="140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args</a:t>
            </a:r>
            <a:r>
              <a:rPr lang="en-US" sz="140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) {</a:t>
            </a:r>
          </a:p>
          <a:p>
            <a:pPr>
              <a:lnSpc>
                <a:spcPts val="2250"/>
              </a:lnSpc>
            </a:pPr>
            <a:r>
              <a:rPr lang="en-US" sz="140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        // Crear un nuevo HashSet </a:t>
            </a:r>
          </a:p>
          <a:p>
            <a:pPr>
              <a:lnSpc>
                <a:spcPts val="2250"/>
              </a:lnSpc>
            </a:pPr>
            <a:r>
              <a:rPr lang="en-US" sz="140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        Set </a:t>
            </a:r>
            <a:r>
              <a:rPr lang="en-US" sz="140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set</a:t>
            </a:r>
            <a:r>
              <a:rPr lang="en-US" sz="140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= new HashSet&lt;&gt;(); // </a:t>
            </a:r>
            <a:r>
              <a:rPr lang="en-US" sz="140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Agregar</a:t>
            </a:r>
            <a:r>
              <a:rPr lang="en-US" sz="140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en-US" sz="140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elementos</a:t>
            </a:r>
            <a:r>
              <a:rPr lang="en-US" sz="140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al HashSet</a:t>
            </a:r>
          </a:p>
          <a:p>
            <a:pPr>
              <a:lnSpc>
                <a:spcPts val="2250"/>
              </a:lnSpc>
            </a:pPr>
            <a:r>
              <a:rPr lang="en-US" sz="140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        </a:t>
            </a:r>
            <a:r>
              <a:rPr lang="en-US" sz="140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set.add</a:t>
            </a:r>
            <a:r>
              <a:rPr lang="en-US" sz="140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("Manzana");</a:t>
            </a:r>
          </a:p>
          <a:p>
            <a:pPr>
              <a:lnSpc>
                <a:spcPts val="2250"/>
              </a:lnSpc>
            </a:pPr>
            <a:r>
              <a:rPr lang="en-US" sz="140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        </a:t>
            </a:r>
            <a:r>
              <a:rPr lang="en-US" sz="140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set.add</a:t>
            </a:r>
            <a:r>
              <a:rPr lang="en-US" sz="140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("Banana");</a:t>
            </a:r>
          </a:p>
          <a:p>
            <a:pPr>
              <a:lnSpc>
                <a:spcPts val="2250"/>
              </a:lnSpc>
            </a:pPr>
            <a:r>
              <a:rPr lang="en-US" sz="140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        </a:t>
            </a:r>
            <a:r>
              <a:rPr lang="en-US" sz="140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set.add</a:t>
            </a:r>
            <a:r>
              <a:rPr lang="en-US" sz="140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("Cereza");</a:t>
            </a:r>
          </a:p>
          <a:p>
            <a:pPr>
              <a:lnSpc>
                <a:spcPts val="2250"/>
              </a:lnSpc>
            </a:pPr>
            <a:r>
              <a:rPr lang="en-US" sz="140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        </a:t>
            </a:r>
            <a:r>
              <a:rPr lang="en-US" sz="140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set.add</a:t>
            </a:r>
            <a:r>
              <a:rPr lang="en-US" sz="140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("Manzana");</a:t>
            </a:r>
          </a:p>
          <a:p>
            <a:pPr>
              <a:lnSpc>
                <a:spcPts val="2250"/>
              </a:lnSpc>
            </a:pPr>
            <a:r>
              <a:rPr lang="en-US" sz="140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       // Esto no se </a:t>
            </a:r>
            <a:r>
              <a:rPr lang="en-US" sz="140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agregará</a:t>
            </a:r>
            <a:r>
              <a:rPr lang="en-US" sz="140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en-US" sz="140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porque</a:t>
            </a:r>
            <a:r>
              <a:rPr lang="en-US" sz="140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es un </a:t>
            </a:r>
            <a:r>
              <a:rPr lang="en-US" sz="140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duplicado</a:t>
            </a:r>
            <a:r>
              <a:rPr lang="en-US" sz="140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</a:p>
          <a:p>
            <a:pPr>
              <a:lnSpc>
                <a:spcPts val="2250"/>
              </a:lnSpc>
            </a:pPr>
            <a:r>
              <a:rPr lang="en-US" sz="140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        // </a:t>
            </a:r>
            <a:r>
              <a:rPr lang="en-US" sz="140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Imprimir</a:t>
            </a:r>
            <a:r>
              <a:rPr lang="en-US" sz="140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en-US" sz="140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el</a:t>
            </a:r>
            <a:r>
              <a:rPr lang="en-US" sz="140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HashSet </a:t>
            </a:r>
          </a:p>
          <a:p>
            <a:pPr>
              <a:lnSpc>
                <a:spcPts val="2250"/>
              </a:lnSpc>
            </a:pPr>
            <a:r>
              <a:rPr lang="en-US" sz="140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        </a:t>
            </a:r>
            <a:r>
              <a:rPr lang="en-US" sz="140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System.out.println</a:t>
            </a:r>
            <a:r>
              <a:rPr lang="en-US" sz="140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("HashSet: " + set);</a:t>
            </a:r>
          </a:p>
          <a:p>
            <a:pPr>
              <a:lnSpc>
                <a:spcPts val="2250"/>
              </a:lnSpc>
            </a:pPr>
            <a:r>
              <a:rPr lang="en-US" sz="140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    }</a:t>
            </a:r>
          </a:p>
          <a:p>
            <a:pPr>
              <a:lnSpc>
                <a:spcPts val="2250"/>
              </a:lnSpc>
            </a:pPr>
            <a:r>
              <a:rPr lang="en-US" sz="140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}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75968"/>
            <a:ext cx="816887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Ejemplo de HashSet (continuación)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092881"/>
            <a:ext cx="13042821" cy="5060752"/>
          </a:xfrm>
          <a:prstGeom prst="roundRect">
            <a:avLst>
              <a:gd name="adj" fmla="val 3530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783908" y="2092881"/>
            <a:ext cx="13062585" cy="5060752"/>
          </a:xfrm>
          <a:prstGeom prst="roundRect">
            <a:avLst>
              <a:gd name="adj" fmla="val 588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982266" y="2241709"/>
            <a:ext cx="12665869" cy="4763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Verificar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si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un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elemento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está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presente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en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el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HashSet</a:t>
            </a:r>
          </a:p>
          <a:p>
            <a:pPr>
              <a:lnSpc>
                <a:spcPts val="2500"/>
              </a:lnSpc>
            </a:pP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boolean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contieneBanana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=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set.contains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("Banana"); </a:t>
            </a:r>
          </a:p>
          <a:p>
            <a:pPr>
              <a:lnSpc>
                <a:spcPts val="2500"/>
              </a:lnSpc>
            </a:pP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System.out.println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("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Contiene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'Banana': " +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contieneBanana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); </a:t>
            </a: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Eliminar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un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elemento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del HashSet</a:t>
            </a:r>
          </a:p>
          <a:p>
            <a:pPr>
              <a:lnSpc>
                <a:spcPts val="2500"/>
              </a:lnSpc>
            </a:pP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boolean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eliminado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=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set.remove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("Cereza"); </a:t>
            </a:r>
          </a:p>
          <a:p>
            <a:pPr>
              <a:lnSpc>
                <a:spcPts val="2500"/>
              </a:lnSpc>
            </a:pP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System.out.println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("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Eliminado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'Cereza': " +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eliminado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);</a:t>
            </a: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Imprimir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el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HashSet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después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de la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eliminación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</a:p>
          <a:p>
            <a:pPr>
              <a:lnSpc>
                <a:spcPts val="2500"/>
              </a:lnSpc>
            </a:pP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System.out.println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("HashSet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después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de la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eliminación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: " + set); </a:t>
            </a: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Obtener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el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tamaño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del HashSet </a:t>
            </a: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int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tamaño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=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set.size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();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System.out.println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("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Tamaño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del HashSet: " +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tamaño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);</a:t>
            </a:r>
            <a:endParaRPr lang="en-US" sz="15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52218"/>
            <a:ext cx="816887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Ejemplo de HashSet (continuación)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569131"/>
            <a:ext cx="13042821" cy="4108133"/>
          </a:xfrm>
          <a:prstGeom prst="roundRect">
            <a:avLst>
              <a:gd name="adj" fmla="val 4348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783908" y="2569131"/>
            <a:ext cx="13062585" cy="4108133"/>
          </a:xfrm>
          <a:prstGeom prst="roundRect">
            <a:avLst>
              <a:gd name="adj" fmla="val 725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982266" y="2717959"/>
            <a:ext cx="12665869" cy="3810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1E3063"/>
                </a:solidFill>
                <a:highlight>
                  <a:srgbClr val="CEE6FD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Iterar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sobre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los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elementos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del HashSet </a:t>
            </a: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System.out.println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("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Elementos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del HashSet:"); </a:t>
            </a: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for (String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elemento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: set) { </a:t>
            </a: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   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System.out.println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(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elemento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);</a:t>
            </a: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}</a:t>
            </a: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Limpiar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el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HashSet </a:t>
            </a: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set.clear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();</a:t>
            </a: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System.out.println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("HashSet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después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de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limpiar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: " + set); }</a:t>
            </a: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15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2483"/>
            <a:ext cx="738258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Explicación del Código HashSet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739396"/>
            <a:ext cx="446484" cy="446484"/>
          </a:xfrm>
          <a:prstGeom prst="roundRect">
            <a:avLst>
              <a:gd name="adj" fmla="val 40008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868204" y="3776603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438632" y="3807619"/>
            <a:ext cx="249328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Creación del HashSet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438632" y="4236839"/>
            <a:ext cx="353734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 instancia un nuevo HashSet para almacenar elementos de tipo String.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223986" y="3739396"/>
            <a:ext cx="446484" cy="446484"/>
          </a:xfrm>
          <a:prstGeom prst="roundRect">
            <a:avLst>
              <a:gd name="adj" fmla="val 40008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5298400" y="3776603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868829" y="380761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Agregar elementos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868829" y="4236839"/>
            <a:ext cx="353746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 añaden varios elementos, notando que un duplicado ("Manzana") no se agrega, ya que los Set no permiten elementos repetidos.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9654302" y="3739396"/>
            <a:ext cx="446484" cy="446484"/>
          </a:xfrm>
          <a:prstGeom prst="roundRect">
            <a:avLst>
              <a:gd name="adj" fmla="val 40008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9728716" y="3776603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0299144" y="380761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Operaciones básicas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99144" y="4236839"/>
            <a:ext cx="353746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 demuestra el uso de contains(), remove(), size(), iteración y clear() para manipular el conjunto.</a:t>
            </a:r>
            <a:endParaRPr lang="en-US" sz="15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2469" y="624364"/>
            <a:ext cx="4391144" cy="548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Ejemplo de HashMap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702469" y="1524476"/>
            <a:ext cx="13225463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 HashMap es una colección que almacena pares clave-valor y no permite claves duplicadas, actualizando el valor si se intenta insertar una clave ya existente.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02469" y="2002988"/>
            <a:ext cx="13225463" cy="5602129"/>
          </a:xfrm>
          <a:prstGeom prst="roundRect">
            <a:avLst>
              <a:gd name="adj" fmla="val 2822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693777" y="2002988"/>
            <a:ext cx="13242846" cy="5602129"/>
          </a:xfrm>
          <a:prstGeom prst="roundRect">
            <a:avLst>
              <a:gd name="adj" fmla="val 470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869394" y="2134672"/>
            <a:ext cx="12891611" cy="5338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00"/>
              </a:lnSpc>
            </a:pPr>
            <a:r>
              <a:rPr lang="en-US" sz="13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import </a:t>
            </a:r>
            <a:r>
              <a:rPr lang="en-US" sz="13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java.util.HashMap</a:t>
            </a:r>
            <a:r>
              <a:rPr lang="en-US" sz="13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;</a:t>
            </a:r>
          </a:p>
          <a:p>
            <a:pPr>
              <a:lnSpc>
                <a:spcPts val="2200"/>
              </a:lnSpc>
            </a:pPr>
            <a:r>
              <a:rPr lang="en-US" sz="13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import </a:t>
            </a:r>
            <a:r>
              <a:rPr lang="en-US" sz="13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java.util.Map</a:t>
            </a:r>
            <a:r>
              <a:rPr lang="en-US" sz="13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;</a:t>
            </a:r>
          </a:p>
          <a:p>
            <a:pPr>
              <a:lnSpc>
                <a:spcPts val="2200"/>
              </a:lnSpc>
            </a:pPr>
            <a:endParaRPr lang="en-US" sz="1350" dirty="0">
              <a:solidFill>
                <a:srgbClr val="1E3063"/>
              </a:solidFill>
              <a:latin typeface="Consolas Medium" pitchFamily="34" charset="0"/>
              <a:ea typeface="Consolas Medium" pitchFamily="34" charset="-122"/>
              <a:cs typeface="Consolas Medium" pitchFamily="34" charset="-120"/>
            </a:endParaRPr>
          </a:p>
          <a:p>
            <a:pPr>
              <a:lnSpc>
                <a:spcPts val="2200"/>
              </a:lnSpc>
            </a:pPr>
            <a:r>
              <a:rPr lang="en-US" sz="13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public class </a:t>
            </a:r>
            <a:r>
              <a:rPr lang="en-US" sz="13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EjemploHashMap</a:t>
            </a:r>
            <a:r>
              <a:rPr lang="en-US" sz="13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{</a:t>
            </a:r>
          </a:p>
          <a:p>
            <a:pPr>
              <a:lnSpc>
                <a:spcPts val="2200"/>
              </a:lnSpc>
            </a:pPr>
            <a:r>
              <a:rPr lang="en-US" sz="13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    public static void main(String[] </a:t>
            </a:r>
            <a:r>
              <a:rPr lang="en-US" sz="13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args</a:t>
            </a:r>
            <a:r>
              <a:rPr lang="en-US" sz="13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) {</a:t>
            </a:r>
          </a:p>
          <a:p>
            <a:pPr>
              <a:lnSpc>
                <a:spcPts val="2200"/>
              </a:lnSpc>
            </a:pPr>
            <a:r>
              <a:rPr lang="en-US" sz="13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// Crear un nuevo HashMap</a:t>
            </a:r>
          </a:p>
          <a:p>
            <a:pPr>
              <a:lnSpc>
                <a:spcPts val="2200"/>
              </a:lnSpc>
            </a:pPr>
            <a:r>
              <a:rPr lang="en-US" sz="13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Map </a:t>
            </a:r>
            <a:r>
              <a:rPr lang="en-US" sz="13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map</a:t>
            </a:r>
            <a:r>
              <a:rPr lang="en-US" sz="13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= new HashMap&lt;&gt;();</a:t>
            </a:r>
          </a:p>
          <a:p>
            <a:pPr>
              <a:lnSpc>
                <a:spcPts val="2200"/>
              </a:lnSpc>
            </a:pPr>
            <a:r>
              <a:rPr lang="en-US" sz="13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// </a:t>
            </a:r>
            <a:r>
              <a:rPr lang="en-US" sz="13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Agregar</a:t>
            </a:r>
            <a:r>
              <a:rPr lang="en-US" sz="13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pares clave-valor al HashMap </a:t>
            </a:r>
          </a:p>
          <a:p>
            <a:pPr>
              <a:lnSpc>
                <a:spcPts val="2200"/>
              </a:lnSpc>
            </a:pPr>
            <a:r>
              <a:rPr lang="en-US" sz="13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</a:t>
            </a:r>
            <a:r>
              <a:rPr lang="en-US" sz="13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map.put</a:t>
            </a:r>
            <a:r>
              <a:rPr lang="en-US" sz="13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("Manzana", 10);</a:t>
            </a:r>
          </a:p>
          <a:p>
            <a:pPr>
              <a:lnSpc>
                <a:spcPts val="2200"/>
              </a:lnSpc>
            </a:pPr>
            <a:r>
              <a:rPr lang="en-US" sz="13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</a:t>
            </a:r>
            <a:r>
              <a:rPr lang="en-US" sz="13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map.put</a:t>
            </a:r>
            <a:r>
              <a:rPr lang="en-US" sz="13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("Banana", 5);</a:t>
            </a:r>
          </a:p>
          <a:p>
            <a:pPr>
              <a:lnSpc>
                <a:spcPts val="2200"/>
              </a:lnSpc>
            </a:pPr>
            <a:r>
              <a:rPr lang="en-US" sz="13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</a:t>
            </a:r>
            <a:r>
              <a:rPr lang="en-US" sz="13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map.put</a:t>
            </a:r>
            <a:r>
              <a:rPr lang="en-US" sz="13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("Cereza", 20);</a:t>
            </a:r>
          </a:p>
          <a:p>
            <a:pPr>
              <a:lnSpc>
                <a:spcPts val="2200"/>
              </a:lnSpc>
            </a:pPr>
            <a:r>
              <a:rPr lang="en-US" sz="13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</a:t>
            </a:r>
            <a:r>
              <a:rPr lang="en-US" sz="13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map.put</a:t>
            </a:r>
            <a:r>
              <a:rPr lang="en-US" sz="13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("Manzana", 15);</a:t>
            </a:r>
          </a:p>
          <a:p>
            <a:pPr>
              <a:lnSpc>
                <a:spcPts val="2200"/>
              </a:lnSpc>
            </a:pPr>
            <a:r>
              <a:rPr lang="en-US" sz="13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// Esto </a:t>
            </a:r>
            <a:r>
              <a:rPr lang="en-US" sz="13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actualizará</a:t>
            </a:r>
            <a:r>
              <a:rPr lang="en-US" sz="13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en-US" sz="13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el</a:t>
            </a:r>
            <a:r>
              <a:rPr lang="en-US" sz="13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valor de "Manzana"</a:t>
            </a:r>
          </a:p>
          <a:p>
            <a:pPr>
              <a:lnSpc>
                <a:spcPts val="2200"/>
              </a:lnSpc>
            </a:pPr>
            <a:r>
              <a:rPr lang="en-US" sz="13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// </a:t>
            </a:r>
            <a:r>
              <a:rPr lang="en-US" sz="13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Imprimir</a:t>
            </a:r>
            <a:r>
              <a:rPr lang="en-US" sz="13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en-US" sz="13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el</a:t>
            </a:r>
            <a:r>
              <a:rPr lang="en-US" sz="13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HashMap </a:t>
            </a:r>
          </a:p>
          <a:p>
            <a:pPr>
              <a:lnSpc>
                <a:spcPts val="2200"/>
              </a:lnSpc>
            </a:pPr>
            <a:r>
              <a:rPr lang="en-US" sz="13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	</a:t>
            </a:r>
            <a:r>
              <a:rPr lang="en-US" sz="13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System.out.println</a:t>
            </a:r>
            <a:r>
              <a:rPr lang="en-US" sz="13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("HashMap: " + map);</a:t>
            </a:r>
          </a:p>
          <a:p>
            <a:pPr>
              <a:lnSpc>
                <a:spcPts val="2200"/>
              </a:lnSpc>
            </a:pPr>
            <a:r>
              <a:rPr lang="en-US" sz="13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    }</a:t>
            </a:r>
          </a:p>
          <a:p>
            <a:pPr>
              <a:lnSpc>
                <a:spcPts val="2200"/>
              </a:lnSpc>
            </a:pPr>
            <a:r>
              <a:rPr lang="en-US" sz="13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}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75968"/>
            <a:ext cx="841248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Ejemplo de HashMap (continuación)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092881"/>
            <a:ext cx="13042821" cy="5060752"/>
          </a:xfrm>
          <a:prstGeom prst="roundRect">
            <a:avLst>
              <a:gd name="adj" fmla="val 3530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783908" y="2092881"/>
            <a:ext cx="13062585" cy="5060752"/>
          </a:xfrm>
          <a:prstGeom prst="roundRect">
            <a:avLst>
              <a:gd name="adj" fmla="val 588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982266" y="2241709"/>
            <a:ext cx="12665869" cy="4763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1E3063"/>
                </a:solidFill>
                <a:highlight>
                  <a:srgbClr val="CEE6FD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Obtener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el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valor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asociado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a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una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clave </a:t>
            </a: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int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cantidadManzana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=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map.get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("Manzana");</a:t>
            </a: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System.out.println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("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Cantidad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de Manzanas: " +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cantidadManzana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); </a:t>
            </a: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Verificar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si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una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clave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está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presente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en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el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HashMap </a:t>
            </a: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boolean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contieneBanana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=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map.containsKey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("Banana");</a:t>
            </a: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System.out.println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("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Contiene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'Banana': " +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contieneBanana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); </a:t>
            </a: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Eliminar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un par clave-valor del HashMap </a:t>
            </a: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Integer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eliminado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=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map.remove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("Cereza");</a:t>
            </a: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System.out.println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("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Eliminado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'Cereza': " +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eliminado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); </a:t>
            </a: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Imprimir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el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HashMap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después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de la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eliminación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System.out.println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("HashMap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después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de la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eliminación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: " + map);</a:t>
            </a:r>
          </a:p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17138"/>
            <a:ext cx="841248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Ejemplo de HashMap (continuación)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1934051"/>
            <a:ext cx="13042821" cy="5378291"/>
          </a:xfrm>
          <a:prstGeom prst="roundRect">
            <a:avLst>
              <a:gd name="adj" fmla="val 3321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783908" y="1934051"/>
            <a:ext cx="13062585" cy="5378291"/>
          </a:xfrm>
          <a:prstGeom prst="roundRect">
            <a:avLst>
              <a:gd name="adj" fmla="val 554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982266" y="2082879"/>
            <a:ext cx="12665869" cy="5080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//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Obtener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el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tamaño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del HashMap </a:t>
            </a: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int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tamaño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=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map.size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();</a:t>
            </a:r>
          </a:p>
          <a:p>
            <a:pPr>
              <a:lnSpc>
                <a:spcPts val="2500"/>
              </a:lnSpc>
            </a:pPr>
            <a:endParaRPr lang="en-US" sz="1550" dirty="0">
              <a:solidFill>
                <a:srgbClr val="1E3063"/>
              </a:solidFill>
              <a:latin typeface="Consolas Medium" pitchFamily="34" charset="0"/>
              <a:ea typeface="Consolas Medium" pitchFamily="34" charset="-122"/>
              <a:cs typeface="Consolas Medium" pitchFamily="34" charset="-120"/>
            </a:endParaRP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System.out.println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("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Tamaño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del HashMap: " +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tamaño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); </a:t>
            </a: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Iterar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sobre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los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pares clave-valor del HashMap </a:t>
            </a: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System.out.println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("Pares clave-valor del HashMap:");</a:t>
            </a: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for (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Map.Entry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entry: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map.entrySet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()) {</a:t>
            </a: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   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System.out.println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("Clave: " +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entry.getKey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() + ", Valor: " +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entry.getValue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());</a:t>
            </a: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}</a:t>
            </a: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Limpiar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el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HashMap </a:t>
            </a: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map.clear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();</a:t>
            </a:r>
          </a:p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System.out.println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("HashMap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después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de </a:t>
            </a:r>
            <a:r>
              <a:rPr lang="en-US" sz="1550" dirty="0" err="1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limpiar</a:t>
            </a:r>
            <a:r>
              <a:rPr lang="en-US" sz="1550" dirty="0">
                <a:solidFill>
                  <a:srgbClr val="1E3063"/>
                </a:solidFill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: " + map); </a:t>
            </a:r>
          </a:p>
          <a:p>
            <a:pPr>
              <a:lnSpc>
                <a:spcPts val="2500"/>
              </a:lnSpc>
            </a:pPr>
            <a:endParaRPr lang="en-US" sz="15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2483"/>
            <a:ext cx="762619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Explicación del Código HashMap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739396"/>
            <a:ext cx="446484" cy="446484"/>
          </a:xfrm>
          <a:prstGeom prst="roundRect">
            <a:avLst>
              <a:gd name="adj" fmla="val 40008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868204" y="3776603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438632" y="3807619"/>
            <a:ext cx="261508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Creación del HashMap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438632" y="4236839"/>
            <a:ext cx="3537347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 inicializa un nuevo HashMap para almacenar pares de clave (String) y valor (Integer).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223986" y="3739396"/>
            <a:ext cx="446484" cy="446484"/>
          </a:xfrm>
          <a:prstGeom prst="roundRect">
            <a:avLst>
              <a:gd name="adj" fmla="val 40008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5298400" y="3776603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868829" y="3807619"/>
            <a:ext cx="298454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Agregar pares clave-valor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868829" y="4236839"/>
            <a:ext cx="353746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 añaden elementos usando put(). Si se inserta una clave existente, el valor asociado se actualiza.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9654302" y="3739396"/>
            <a:ext cx="446484" cy="446484"/>
          </a:xfrm>
          <a:prstGeom prst="roundRect">
            <a:avLst>
              <a:gd name="adj" fmla="val 40008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9728716" y="3776603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0299144" y="380761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Operaciones básicas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99144" y="4236839"/>
            <a:ext cx="353746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 demuestra el uso de get(), containsKey(), remove(), size(), entrySet() para iterar y clear() para manipular el mapa.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1872</Words>
  <Application>Microsoft Office PowerPoint</Application>
  <PresentationFormat>Personalizado</PresentationFormat>
  <Paragraphs>262</Paragraphs>
  <Slides>30</Slides>
  <Notes>30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5" baseType="lpstr">
      <vt:lpstr>Consolas Medium</vt:lpstr>
      <vt:lpstr>Instrument Sans Semi Bold</vt:lpstr>
      <vt:lpstr>Arial</vt:lpstr>
      <vt:lpstr>Instrument Sans Medium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Giuliano  Espejo Mezzabotta</cp:lastModifiedBy>
  <cp:revision>1</cp:revision>
  <dcterms:created xsi:type="dcterms:W3CDTF">2025-07-10T19:27:28Z</dcterms:created>
  <dcterms:modified xsi:type="dcterms:W3CDTF">2025-07-23T20:45:22Z</dcterms:modified>
</cp:coreProperties>
</file>