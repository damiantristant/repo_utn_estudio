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4630400" cy="8229600"/>
  <p:notesSz cx="8229600" cy="14630400"/>
  <p:embeddedFontLst>
    <p:embeddedFont>
      <p:font typeface="Instrument Sans Medium" panose="020B0604020202020204" charset="0"/>
      <p:regular r:id="rId28"/>
    </p:embeddedFont>
    <p:embeddedFont>
      <p:font typeface="Instrument Sans Semi Bold" panose="020B0604020202020204" charset="0"/>
      <p:regular r:id="rId29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BC80D-D373-483D-8F6A-05AF33B2C24F}" v="2" dt="2025-07-18T02:19:15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liano  Espejo Mezzabotta" userId="8580eddc-76de-4a97-be99-d71c60c599f8" providerId="ADAL" clId="{D0BBC80D-D373-483D-8F6A-05AF33B2C24F}"/>
    <pc:docChg chg="undo custSel modSld">
      <pc:chgData name="Giuliano  Espejo Mezzabotta" userId="8580eddc-76de-4a97-be99-d71c60c599f8" providerId="ADAL" clId="{D0BBC80D-D373-483D-8F6A-05AF33B2C24F}" dt="2025-07-18T03:36:17.328" v="436" actId="20577"/>
      <pc:docMkLst>
        <pc:docMk/>
      </pc:docMkLst>
      <pc:sldChg chg="modSp mod">
        <pc:chgData name="Giuliano  Espejo Mezzabotta" userId="8580eddc-76de-4a97-be99-d71c60c599f8" providerId="ADAL" clId="{D0BBC80D-D373-483D-8F6A-05AF33B2C24F}" dt="2025-07-18T02:23:52.251" v="429" actId="1037"/>
        <pc:sldMkLst>
          <pc:docMk/>
          <pc:sldMk cId="0" sldId="259"/>
        </pc:sldMkLst>
        <pc:spChg chg="mod">
          <ac:chgData name="Giuliano  Espejo Mezzabotta" userId="8580eddc-76de-4a97-be99-d71c60c599f8" providerId="ADAL" clId="{D0BBC80D-D373-483D-8F6A-05AF33B2C24F}" dt="2025-07-18T02:23:06.226" v="428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23:52.251" v="429" actId="103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3:33:19.385" v="430" actId="20577"/>
        <pc:sldMkLst>
          <pc:docMk/>
          <pc:sldMk cId="0" sldId="261"/>
        </pc:sldMkLst>
        <pc:spChg chg="mod">
          <ac:chgData name="Giuliano  Espejo Mezzabotta" userId="8580eddc-76de-4a97-be99-d71c60c599f8" providerId="ADAL" clId="{D0BBC80D-D373-483D-8F6A-05AF33B2C24F}" dt="2025-07-18T03:33:19.385" v="430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1:22:21.630" v="30" actId="20577"/>
        <pc:sldMkLst>
          <pc:docMk/>
          <pc:sldMk cId="0" sldId="262"/>
        </pc:sldMkLst>
        <pc:spChg chg="mod">
          <ac:chgData name="Giuliano  Espejo Mezzabotta" userId="8580eddc-76de-4a97-be99-d71c60c599f8" providerId="ADAL" clId="{D0BBC80D-D373-483D-8F6A-05AF33B2C24F}" dt="2025-07-18T01:22:21.630" v="30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2:21:49.607" v="416" actId="20577"/>
        <pc:sldMkLst>
          <pc:docMk/>
          <pc:sldMk cId="0" sldId="265"/>
        </pc:sldMkLst>
        <pc:spChg chg="mod">
          <ac:chgData name="Giuliano  Espejo Mezzabotta" userId="8580eddc-76de-4a97-be99-d71c60c599f8" providerId="ADAL" clId="{D0BBC80D-D373-483D-8F6A-05AF33B2C24F}" dt="2025-07-18T02:21:49.607" v="416" actId="20577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1:24:46.530" v="91" actId="20577"/>
        <pc:sldMkLst>
          <pc:docMk/>
          <pc:sldMk cId="0" sldId="266"/>
        </pc:sldMkLst>
        <pc:spChg chg="mod">
          <ac:chgData name="Giuliano  Espejo Mezzabotta" userId="8580eddc-76de-4a97-be99-d71c60c599f8" providerId="ADAL" clId="{D0BBC80D-D373-483D-8F6A-05AF33B2C24F}" dt="2025-07-18T01:24:46.530" v="91" actId="20577"/>
          <ac:spMkLst>
            <pc:docMk/>
            <pc:sldMk cId="0" sldId="266"/>
            <ac:spMk id="5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1:25:35.537" v="95" actId="20577"/>
        <pc:sldMkLst>
          <pc:docMk/>
          <pc:sldMk cId="0" sldId="267"/>
        </pc:sldMkLst>
        <pc:spChg chg="mod">
          <ac:chgData name="Giuliano  Espejo Mezzabotta" userId="8580eddc-76de-4a97-be99-d71c60c599f8" providerId="ADAL" clId="{D0BBC80D-D373-483D-8F6A-05AF33B2C24F}" dt="2025-07-18T01:25:35.537" v="95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1:25:27.163" v="94" actId="20577"/>
          <ac:spMkLst>
            <pc:docMk/>
            <pc:sldMk cId="0" sldId="267"/>
            <ac:spMk id="9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2:22:52.390" v="427" actId="313"/>
        <pc:sldMkLst>
          <pc:docMk/>
          <pc:sldMk cId="0" sldId="270"/>
        </pc:sldMkLst>
        <pc:spChg chg="mod">
          <ac:chgData name="Giuliano  Espejo Mezzabotta" userId="8580eddc-76de-4a97-be99-d71c60c599f8" providerId="ADAL" clId="{D0BBC80D-D373-483D-8F6A-05AF33B2C24F}" dt="2025-07-18T02:22:35.454" v="423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22:52.390" v="427" actId="313"/>
          <ac:spMkLst>
            <pc:docMk/>
            <pc:sldMk cId="0" sldId="270"/>
            <ac:spMk id="10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2:10:26.297" v="165" actId="20577"/>
        <pc:sldMkLst>
          <pc:docMk/>
          <pc:sldMk cId="0" sldId="271"/>
        </pc:sldMkLst>
        <pc:spChg chg="mod">
          <ac:chgData name="Giuliano  Espejo Mezzabotta" userId="8580eddc-76de-4a97-be99-d71c60c599f8" providerId="ADAL" clId="{D0BBC80D-D373-483D-8F6A-05AF33B2C24F}" dt="2025-07-18T02:10:25.426" v="164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0:26.297" v="165" actId="20577"/>
          <ac:spMkLst>
            <pc:docMk/>
            <pc:sldMk cId="0" sldId="271"/>
            <ac:spMk id="6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2:11:42.934" v="215" actId="20577"/>
        <pc:sldMkLst>
          <pc:docMk/>
          <pc:sldMk cId="0" sldId="272"/>
        </pc:sldMkLst>
        <pc:spChg chg="mod">
          <ac:chgData name="Giuliano  Espejo Mezzabotta" userId="8580eddc-76de-4a97-be99-d71c60c599f8" providerId="ADAL" clId="{D0BBC80D-D373-483D-8F6A-05AF33B2C24F}" dt="2025-07-18T02:11:04.238" v="193" actId="20577"/>
          <ac:spMkLst>
            <pc:docMk/>
            <pc:sldMk cId="0" sldId="272"/>
            <ac:spMk id="6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1:42.934" v="215" actId="20577"/>
          <ac:spMkLst>
            <pc:docMk/>
            <pc:sldMk cId="0" sldId="272"/>
            <ac:spMk id="10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2:13:48.159" v="276" actId="20577"/>
        <pc:sldMkLst>
          <pc:docMk/>
          <pc:sldMk cId="0" sldId="273"/>
        </pc:sldMkLst>
        <pc:spChg chg="mod">
          <ac:chgData name="Giuliano  Espejo Mezzabotta" userId="8580eddc-76de-4a97-be99-d71c60c599f8" providerId="ADAL" clId="{D0BBC80D-D373-483D-8F6A-05AF33B2C24F}" dt="2025-07-18T02:13:48.159" v="276" actId="20577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0BBC80D-D373-483D-8F6A-05AF33B2C24F}" dt="2025-07-18T02:18:09.369" v="341" actId="20577"/>
        <pc:sldMkLst>
          <pc:docMk/>
          <pc:sldMk cId="0" sldId="276"/>
        </pc:sldMkLst>
        <pc:spChg chg="mod">
          <ac:chgData name="Giuliano  Espejo Mezzabotta" userId="8580eddc-76de-4a97-be99-d71c60c599f8" providerId="ADAL" clId="{D0BBC80D-D373-483D-8F6A-05AF33B2C24F}" dt="2025-07-18T02:17:09.079" v="299" actId="403"/>
          <ac:spMkLst>
            <pc:docMk/>
            <pc:sldMk cId="0" sldId="276"/>
            <ac:spMk id="2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7:09.079" v="299" actId="403"/>
          <ac:spMkLst>
            <pc:docMk/>
            <pc:sldMk cId="0" sldId="276"/>
            <ac:spMk id="4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7:09.079" v="299" actId="403"/>
          <ac:spMkLst>
            <pc:docMk/>
            <pc:sldMk cId="0" sldId="276"/>
            <ac:spMk id="5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7:09.079" v="299" actId="403"/>
          <ac:spMkLst>
            <pc:docMk/>
            <pc:sldMk cId="0" sldId="276"/>
            <ac:spMk id="6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7:45.883" v="325" actId="20577"/>
          <ac:spMkLst>
            <pc:docMk/>
            <pc:sldMk cId="0" sldId="276"/>
            <ac:spMk id="7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7:09.079" v="299" actId="403"/>
          <ac:spMkLst>
            <pc:docMk/>
            <pc:sldMk cId="0" sldId="276"/>
            <ac:spMk id="8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7:09.079" v="299" actId="403"/>
          <ac:spMkLst>
            <pc:docMk/>
            <pc:sldMk cId="0" sldId="276"/>
            <ac:spMk id="9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7:09.079" v="299" actId="403"/>
          <ac:spMkLst>
            <pc:docMk/>
            <pc:sldMk cId="0" sldId="276"/>
            <ac:spMk id="10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7:09.079" v="299" actId="403"/>
          <ac:spMkLst>
            <pc:docMk/>
            <pc:sldMk cId="0" sldId="276"/>
            <ac:spMk id="11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8:09.369" v="341" actId="20577"/>
          <ac:spMkLst>
            <pc:docMk/>
            <pc:sldMk cId="0" sldId="276"/>
            <ac:spMk id="12" creationId="{00000000-0000-0000-0000-000000000000}"/>
          </ac:spMkLst>
        </pc:spChg>
        <pc:picChg chg="mod">
          <ac:chgData name="Giuliano  Espejo Mezzabotta" userId="8580eddc-76de-4a97-be99-d71c60c599f8" providerId="ADAL" clId="{D0BBC80D-D373-483D-8F6A-05AF33B2C24F}" dt="2025-07-18T02:16:19.866" v="287" actId="1076"/>
          <ac:picMkLst>
            <pc:docMk/>
            <pc:sldMk cId="0" sldId="276"/>
            <ac:picMk id="13" creationId="{00000000-0000-0000-0000-000000000000}"/>
          </ac:picMkLst>
        </pc:picChg>
      </pc:sldChg>
      <pc:sldChg chg="addSp modSp mod">
        <pc:chgData name="Giuliano  Espejo Mezzabotta" userId="8580eddc-76de-4a97-be99-d71c60c599f8" providerId="ADAL" clId="{D0BBC80D-D373-483D-8F6A-05AF33B2C24F}" dt="2025-07-18T03:36:17.328" v="436" actId="20577"/>
        <pc:sldMkLst>
          <pc:docMk/>
          <pc:sldMk cId="0" sldId="278"/>
        </pc:sldMkLst>
        <pc:spChg chg="mod">
          <ac:chgData name="Giuliano  Espejo Mezzabotta" userId="8580eddc-76de-4a97-be99-d71c60c599f8" providerId="ADAL" clId="{D0BBC80D-D373-483D-8F6A-05AF33B2C24F}" dt="2025-07-18T02:18:44.086" v="358" actId="403"/>
          <ac:spMkLst>
            <pc:docMk/>
            <pc:sldMk cId="0" sldId="278"/>
            <ac:spMk id="2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20:05.835" v="384" actId="6549"/>
          <ac:spMkLst>
            <pc:docMk/>
            <pc:sldMk cId="0" sldId="278"/>
            <ac:spMk id="4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20:02.370" v="383" actId="1076"/>
          <ac:spMkLst>
            <pc:docMk/>
            <pc:sldMk cId="0" sldId="278"/>
            <ac:spMk id="5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9:59.602" v="382" actId="1076"/>
          <ac:spMkLst>
            <pc:docMk/>
            <pc:sldMk cId="0" sldId="278"/>
            <ac:spMk id="6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9:55.930" v="381" actId="1076"/>
          <ac:spMkLst>
            <pc:docMk/>
            <pc:sldMk cId="0" sldId="278"/>
            <ac:spMk id="7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9:52.050" v="379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9:54.018" v="380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8:53.226" v="361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2:18:47.690" v="359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Giuliano  Espejo Mezzabotta" userId="8580eddc-76de-4a97-be99-d71c60c599f8" providerId="ADAL" clId="{D0BBC80D-D373-483D-8F6A-05AF33B2C24F}" dt="2025-07-18T03:36:17.328" v="436" actId="20577"/>
          <ac:spMkLst>
            <pc:docMk/>
            <pc:sldMk cId="0" sldId="278"/>
            <ac:spMk id="12" creationId="{00000000-0000-0000-0000-000000000000}"/>
          </ac:spMkLst>
        </pc:spChg>
        <pc:spChg chg="add mod">
          <ac:chgData name="Giuliano  Espejo Mezzabotta" userId="8580eddc-76de-4a97-be99-d71c60c599f8" providerId="ADAL" clId="{D0BBC80D-D373-483D-8F6A-05AF33B2C24F}" dt="2025-07-18T02:19:15.731" v="368" actId="571"/>
          <ac:spMkLst>
            <pc:docMk/>
            <pc:sldMk cId="0" sldId="278"/>
            <ac:spMk id="14" creationId="{7EF1F6B8-94D8-EB4C-24DF-B24576348B0F}"/>
          </ac:spMkLst>
        </pc:spChg>
        <pc:picChg chg="mod">
          <ac:chgData name="Giuliano  Espejo Mezzabotta" userId="8580eddc-76de-4a97-be99-d71c60c599f8" providerId="ADAL" clId="{D0BBC80D-D373-483D-8F6A-05AF33B2C24F}" dt="2025-07-18T02:18:37.923" v="352" actId="1076"/>
          <ac:picMkLst>
            <pc:docMk/>
            <pc:sldMk cId="0" sldId="278"/>
            <ac:picMk id="1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41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8706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 y sus Tips: El Método toString()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7248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guía completa sobre el método toString() en Java y sus mejores prácticas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790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Agenda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334822"/>
            <a:ext cx="6422231" cy="1189196"/>
          </a:xfrm>
          <a:prstGeom prst="roundRect">
            <a:avLst>
              <a:gd name="adj" fmla="val 7010"/>
            </a:avLst>
          </a:prstGeom>
          <a:noFill/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15008" y="35560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Fundamentos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98526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¿Qué es toString() y para qué sirve?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3334822"/>
            <a:ext cx="6422231" cy="1189196"/>
          </a:xfrm>
          <a:prstGeom prst="roundRect">
            <a:avLst>
              <a:gd name="adj" fmla="val 7010"/>
            </a:avLst>
          </a:prstGeom>
          <a:noFill/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635597" y="35560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Implementación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35597" y="398526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Cómo sobrescribir toString() correctamente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722376"/>
            <a:ext cx="6422231" cy="1189196"/>
          </a:xfrm>
          <a:prstGeom prst="roundRect">
            <a:avLst>
              <a:gd name="adj" fmla="val 7010"/>
            </a:avLst>
          </a:prstGeom>
          <a:noFill/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15008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Herencia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008" y="537281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toString() en jerarquías de clases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722376"/>
            <a:ext cx="6422231" cy="1189196"/>
          </a:xfrm>
          <a:prstGeom prst="roundRect">
            <a:avLst>
              <a:gd name="adj" fmla="val 7010"/>
            </a:avLst>
          </a:prstGeom>
          <a:noFill/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635597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Problemas comunes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35597" y="537281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Recursividad y clases asociadas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6624399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¿Qué es el método toString()?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método toString() en Java es un método que se encuentra en la clase Object, la superclase de todas las clases en Java.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 propósito principal es devolver una representación en forma de cadena de texto del objeto al que pertenece.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3080742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 representación suele ser útil para: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548182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Depuración de código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912751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Obtener una descripción legible del objeto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8070" y="4277320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Facilitar la visualización de datos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1047"/>
            <a:ext cx="66264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Implementación por defecto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07375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implementación por defecto de toString() en la clase Object devuelve una cadena que incluye: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62104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nombre de la clase del objeto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00800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valor hexadecimal del código hash del objeto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50413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 firma es: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5044916"/>
            <a:ext cx="6279356" cy="615196"/>
          </a:xfrm>
          <a:prstGeom prst="roundRect">
            <a:avLst>
              <a:gd name="adj" fmla="val 13550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783908" y="5044916"/>
            <a:ext cx="6299121" cy="615196"/>
          </a:xfrm>
          <a:prstGeom prst="roundRect">
            <a:avLst>
              <a:gd name="adj" fmla="val 483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82266" y="5193744"/>
            <a:ext cx="59024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String toString()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280737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Implementación por defecto: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64874" y="3348157"/>
            <a:ext cx="6279356" cy="1567815"/>
          </a:xfrm>
          <a:prstGeom prst="roundRect">
            <a:avLst>
              <a:gd name="adj" fmla="val 5317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7554992" y="3348157"/>
            <a:ext cx="6299121" cy="1567815"/>
          </a:xfrm>
          <a:prstGeom prst="roundRect">
            <a:avLst>
              <a:gd name="adj" fmla="val 189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753349" y="3496985"/>
            <a:ext cx="608326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String toString() {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return getClass().getName() + "@" +  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Integer.toHexString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hashCode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());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</a:p>
        </p:txBody>
      </p:sp>
      <p:sp>
        <p:nvSpPr>
          <p:cNvPr id="14" name="Text 12"/>
          <p:cNvSpPr/>
          <p:nvPr/>
        </p:nvSpPr>
        <p:spPr>
          <a:xfrm>
            <a:off x="7564874" y="513921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Ejemplo de salida: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64874" y="5679996"/>
            <a:ext cx="6279356" cy="615196"/>
          </a:xfrm>
          <a:prstGeom prst="roundRect">
            <a:avLst>
              <a:gd name="adj" fmla="val 13550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7540478" y="5679996"/>
            <a:ext cx="6299121" cy="615196"/>
          </a:xfrm>
          <a:prstGeom prst="roundRect">
            <a:avLst>
              <a:gd name="adj" fmla="val 483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7753350" y="5828824"/>
            <a:ext cx="59024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Persona@3b9a45ff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71355"/>
            <a:ext cx="772084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¿Por qué sobrescribir toString()?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508908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2"/>
          <p:cNvSpPr/>
          <p:nvPr/>
        </p:nvSpPr>
        <p:spPr>
          <a:xfrm>
            <a:off x="1438632" y="51573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Legibilidad mejorada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38632" y="5586532"/>
            <a:ext cx="35373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implementación por defecto no proporciona información útil sobre el estado del objeto.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223986" y="508908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5868829" y="51573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Depuración eficiente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868829" y="5586532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representación personalizada facilita la identificación de problemas durante el desarrollo.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654302" y="508908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10299144" y="5157311"/>
            <a:ext cx="33364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Mejor experiencia de usuario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299144" y="5586532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 imprimir objetos, los usuarios verán información significativa en lugar de códigos hash.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5577"/>
            <a:ext cx="63153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Sobrescribiendo toString()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2249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 común sobrescribir este método en tus propias clases para proporcionar una representación más útil y legible del objeto.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63272"/>
            <a:ext cx="13042821" cy="5060752"/>
          </a:xfrm>
          <a:prstGeom prst="roundRect">
            <a:avLst>
              <a:gd name="adj" fmla="val 1647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83908" y="2363272"/>
            <a:ext cx="13062585" cy="5060752"/>
          </a:xfrm>
          <a:prstGeom prst="roundRect">
            <a:avLst>
              <a:gd name="adj" fmla="val 588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82266" y="2512100"/>
            <a:ext cx="12665869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Persona {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nombre;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int edad;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Persona(String nombre, int edad) {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 this.nombre = nombre;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this.edad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edad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;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 }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@Override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String toString() {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		return "Persona[nombre=" + nombre +  ", edad=" + edad + "]";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uso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48070" y="1589603"/>
            <a:ext cx="6339007" cy="878919"/>
          </a:xfrm>
          <a:prstGeom prst="roundRect">
            <a:avLst>
              <a:gd name="adj" fmla="val 8938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38783" y="1589603"/>
            <a:ext cx="6357580" cy="878919"/>
          </a:xfrm>
          <a:prstGeom prst="roundRect">
            <a:avLst>
              <a:gd name="adj" fmla="val 3192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25711" y="1729859"/>
            <a:ext cx="5983724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Persona persona = new Persona("Juan", 30);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(persona);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2678906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Salida: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8070" y="3188494"/>
            <a:ext cx="6339007" cy="579715"/>
          </a:xfrm>
          <a:prstGeom prst="roundRect">
            <a:avLst>
              <a:gd name="adj" fmla="val 13551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738783" y="3188494"/>
            <a:ext cx="6357580" cy="579715"/>
          </a:xfrm>
          <a:prstGeom prst="roundRect">
            <a:avLst>
              <a:gd name="adj" fmla="val 4840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25711" y="3328749"/>
            <a:ext cx="5983724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Persona[nombre=Juan, edad=30]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8070" y="3978593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lugar de: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8070" y="4488180"/>
            <a:ext cx="6339007" cy="579715"/>
          </a:xfrm>
          <a:prstGeom prst="roundRect">
            <a:avLst>
              <a:gd name="adj" fmla="val 13551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738783" y="4488180"/>
            <a:ext cx="6357580" cy="579715"/>
          </a:xfrm>
          <a:prstGeom prst="roundRect">
            <a:avLst>
              <a:gd name="adj" fmla="val 4840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25711" y="4628436"/>
            <a:ext cx="5983724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Persona@3b9a45ff</a:t>
            </a:r>
            <a:endParaRPr lang="en-US" sz="14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779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Mejores prácticas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19507"/>
            <a:ext cx="6422231" cy="914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249" y="2444710"/>
            <a:ext cx="595313" cy="595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85843" y="259353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015008" y="3238500"/>
            <a:ext cx="40676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Incluir todos los campos relevantes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015008" y="3667720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Asegúrate de incluir todos los campos que sean importantes para entender el estado del objeto.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2719507"/>
            <a:ext cx="6422231" cy="9144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838" y="2444710"/>
            <a:ext cx="595313" cy="5953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06432" y="259353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7635597" y="3238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Formato consistente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635597" y="3667720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Mantén un formato consistente para todas tus clases, facilitando la lectura y comprensión.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97172"/>
            <a:ext cx="6422231" cy="9144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249" y="4722376"/>
            <a:ext cx="595313" cy="5953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885843" y="487120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1015008" y="5516166"/>
            <a:ext cx="31464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Evitar información sensible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1015008" y="594538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incluyas contraseñas u otra información sensible en la representación de cadena.</a:t>
            </a:r>
            <a:endParaRPr lang="en-US" sz="15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4997172"/>
            <a:ext cx="6422231" cy="91440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838" y="4722376"/>
            <a:ext cx="595313" cy="595313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506432" y="487120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21" name="Text 11"/>
          <p:cNvSpPr/>
          <p:nvPr/>
        </p:nvSpPr>
        <p:spPr>
          <a:xfrm>
            <a:off x="7635597" y="5516166"/>
            <a:ext cx="38694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Usar StringBuilder para eficiencia</a:t>
            </a:r>
            <a:endParaRPr lang="en-US" sz="1950" dirty="0"/>
          </a:p>
        </p:txBody>
      </p:sp>
      <p:sp>
        <p:nvSpPr>
          <p:cNvPr id="22" name="Text 12"/>
          <p:cNvSpPr/>
          <p:nvPr/>
        </p:nvSpPr>
        <p:spPr>
          <a:xfrm>
            <a:off x="7635597" y="594538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objetos complejos, considera usar StringBuilder para mejorar el rendimiento.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50463"/>
            <a:ext cx="52223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toString() en Herencia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66819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el caso de la herencia en Java, el método toString() puede ser sobrescrito en las subclases para proporcionar una representación más específica de esos objetos.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526518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Cuando una subclase sobrescribe toString(), puede llamar al método toString() de su superclase usando super.toString() para incluir información de la clase base en la representación del objeto.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3117"/>
            <a:ext cx="753879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Herencia: Clase Base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40029"/>
            <a:ext cx="13042821" cy="4425672"/>
          </a:xfrm>
          <a:prstGeom prst="roundRect">
            <a:avLst>
              <a:gd name="adj" fmla="val 1884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83908" y="2140029"/>
            <a:ext cx="13062585" cy="4425672"/>
          </a:xfrm>
          <a:prstGeom prst="roundRect">
            <a:avLst>
              <a:gd name="adj" fmla="val 673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82266" y="2288858"/>
            <a:ext cx="12665869" cy="4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Clase base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Animal {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protected String nombre; 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Animal(String nombre) {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this.nombre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nombre;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 @Override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  public String toString() {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  return "Animal[nombre=" + nombre + "]";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678894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 clase base Animal sobrescribe toString() para mostrar el nombre del animal.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4287"/>
            <a:ext cx="714684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Herencia: Subclase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81200"/>
            <a:ext cx="13042821" cy="4743212"/>
          </a:xfrm>
          <a:prstGeom prst="roundRect">
            <a:avLst>
              <a:gd name="adj" fmla="val 1757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83908" y="1981200"/>
            <a:ext cx="13062585" cy="4743212"/>
          </a:xfrm>
          <a:prstGeom prst="roundRect">
            <a:avLst>
              <a:gd name="adj" fmla="val 628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82266" y="2130028"/>
            <a:ext cx="12665869" cy="4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Subclase</a:t>
            </a:r>
            <a:endParaRPr lang="en-US" sz="155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Perro extends Animal {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raza;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Perro(String nombre, String raza) {  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super(nombre); // Llamada al constructor de la clase base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		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this.raza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raza;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 }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@Override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String toString() {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return super.toString() + ", Perro[raza=" + raza + "]";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694765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subclase Perro llama a super.toString() para incluir la información de Animal en su propia representación.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6313527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uso con Herencia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48070" y="1589603"/>
            <a:ext cx="6339007" cy="1776532"/>
          </a:xfrm>
          <a:prstGeom prst="roundRect">
            <a:avLst>
              <a:gd name="adj" fmla="val 4422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38783" y="1589603"/>
            <a:ext cx="6357580" cy="1776532"/>
          </a:xfrm>
          <a:prstGeom prst="roundRect">
            <a:avLst>
              <a:gd name="adj" fmla="val 157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25711" y="1729859"/>
            <a:ext cx="5983724" cy="1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Animal animal = new Animal("Generic Animal");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Perro perro = new Perro("Fido", "Labrador");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(animal);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(perro);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57651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Salida: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8070" y="4086106"/>
            <a:ext cx="6339007" cy="878919"/>
          </a:xfrm>
          <a:prstGeom prst="roundRect">
            <a:avLst>
              <a:gd name="adj" fmla="val 8938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738783" y="4086106"/>
            <a:ext cx="6357580" cy="878919"/>
          </a:xfrm>
          <a:prstGeom prst="roundRect">
            <a:avLst>
              <a:gd name="adj" fmla="val 3192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25711" y="4226362"/>
            <a:ext cx="5983724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Animal[nombre=Generic Animal]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Animal[nombre=Fido], Perro[raza=Labrador]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09386"/>
            <a:ext cx="84403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Beneficios de toString() en Herencia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726299"/>
            <a:ext cx="4215289" cy="1793796"/>
          </a:xfrm>
          <a:prstGeom prst="roundRect">
            <a:avLst>
              <a:gd name="adj" fmla="val 464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999768" y="3932277"/>
            <a:ext cx="25677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Información completa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4361498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 que las subclases incluyan tanto su información específica como la de sus clases base.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726299"/>
            <a:ext cx="4215408" cy="1793796"/>
          </a:xfrm>
          <a:prstGeom prst="roundRect">
            <a:avLst>
              <a:gd name="adj" fmla="val 464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5413415" y="3932277"/>
            <a:ext cx="34686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Mantenimiento de la jerarquía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13415" y="4361498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Refleja la estructura de herencia en la representación de cadena del objeto.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726299"/>
            <a:ext cx="4215289" cy="1793796"/>
          </a:xfrm>
          <a:prstGeom prst="roundRect">
            <a:avLst>
              <a:gd name="adj" fmla="val 464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9827181" y="39322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Extensibilidad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27181" y="4361498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Facilita la extensión de la representación en cadena a medida que se extiende la jerarquía de clases.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7203758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 Problema de Clases Asociadas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 tienes dos clases asociadas como Persona y Domicilio y cada una tiene una referencia a la otra, puedes encontrarte con problemas de recursividad infinita al sobrescribir el método toString().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613303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Esto ocurre porque: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3080742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toString() de Persona llama a toString() de Domicilio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445312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toString() de Domicilio llama a toString() de Persona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809881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crea un ciclo sin fin que resulta en StackOverflowError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4307"/>
            <a:ext cx="510682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del Problema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403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Clase Domicilio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773799"/>
            <a:ext cx="6279356" cy="4108133"/>
          </a:xfrm>
          <a:prstGeom prst="roundRect">
            <a:avLst>
              <a:gd name="adj" fmla="val 202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83908" y="2773799"/>
            <a:ext cx="6299121" cy="4108133"/>
          </a:xfrm>
          <a:prstGeom prst="roundRect">
            <a:avLst>
              <a:gd name="adj" fmla="val 725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82266" y="2922627"/>
            <a:ext cx="5902404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Domicilio {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calle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;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ciudad;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Persona persona;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@Override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String toString() {  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return "Domicilio[calle=" + 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calle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+ ", ciudad=" +		ciudad +  ", persona=" + persona + "]";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22403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Clase Persona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64874" y="2773799"/>
            <a:ext cx="6279356" cy="4108133"/>
          </a:xfrm>
          <a:prstGeom prst="roundRect">
            <a:avLst>
              <a:gd name="adj" fmla="val 202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7554992" y="2773799"/>
            <a:ext cx="6299121" cy="4108133"/>
          </a:xfrm>
          <a:prstGeom prst="roundRect">
            <a:avLst>
              <a:gd name="adj" fmla="val 725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753350" y="2922627"/>
            <a:ext cx="5902404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Persona {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nombre;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int edad;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Domicilio domicilio;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@Override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String toString() {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return "Persona[nombre=" + nombre +  ", 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edad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=“		+ edad +  ", domicilio=" + domicilio + "]";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5220295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Resultado del Problema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 intentar imprimir una instancia de Persona: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48070" y="2057043"/>
            <a:ext cx="6339007" cy="878919"/>
          </a:xfrm>
          <a:prstGeom prst="roundRect">
            <a:avLst>
              <a:gd name="adj" fmla="val 8938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48070" y="2069941"/>
            <a:ext cx="6357580" cy="878919"/>
          </a:xfrm>
          <a:prstGeom prst="roundRect">
            <a:avLst>
              <a:gd name="adj" fmla="val 3192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25711" y="2197298"/>
            <a:ext cx="5983724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Persona p = new Persona("Juan", 30, </a:t>
            </a:r>
            <a:r>
              <a:rPr lang="en-US" sz="14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domicilio</a:t>
            </a: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(p);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146346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producirá un error: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8070" y="3655933"/>
            <a:ext cx="6339007" cy="2374940"/>
          </a:xfrm>
          <a:prstGeom prst="roundRect">
            <a:avLst>
              <a:gd name="adj" fmla="val 3308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738783" y="3655933"/>
            <a:ext cx="6357580" cy="2374940"/>
          </a:xfrm>
          <a:prstGeom prst="roundRect">
            <a:avLst>
              <a:gd name="adj" fmla="val 1181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925711" y="3796189"/>
            <a:ext cx="5983724" cy="2094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Exception in thread "main" java.lang.StackOverflowError  at Persona.toString(Persona.java:15)  at Domicilio.toString(Domicilio.java:12)  at Persona.toString(Persona.java:15)  at Domicilio.toString(Domicilio.java:12)  ...</a:t>
            </a:r>
            <a:endParaRPr lang="en-US" sz="14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3916"/>
            <a:ext cx="68278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Solución 1: Evitar la Recursión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70008"/>
            <a:ext cx="31649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Clase Domicilio Modificada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503408"/>
            <a:ext cx="6279356" cy="4108133"/>
          </a:xfrm>
          <a:prstGeom prst="roundRect">
            <a:avLst>
              <a:gd name="adj" fmla="val 202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83908" y="2503408"/>
            <a:ext cx="6299121" cy="4108133"/>
          </a:xfrm>
          <a:prstGeom prst="roundRect">
            <a:avLst>
              <a:gd name="adj" fmla="val 725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82266" y="2652236"/>
            <a:ext cx="5902404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Domicilio {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calle;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ciudad;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Persona persona; 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@Override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String toString() {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    // No incluir persona    return "Domicilio[calle=" 		    + calle + ", ciudad=" + ciudad + "]";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1970008"/>
            <a:ext cx="31695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Clase Persona Sin Cambios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64874" y="2503408"/>
            <a:ext cx="6279356" cy="4108133"/>
          </a:xfrm>
          <a:prstGeom prst="roundRect">
            <a:avLst>
              <a:gd name="adj" fmla="val 202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7554992" y="2503408"/>
            <a:ext cx="6299121" cy="4108133"/>
          </a:xfrm>
          <a:prstGeom prst="roundRect">
            <a:avLst>
              <a:gd name="adj" fmla="val 725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753350" y="2652236"/>
            <a:ext cx="5902404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Persona {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nombre;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int edad;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Domicilio domicilio; 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@Override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String toString() {  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return "Persona[nombre=" + 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nombre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", edad=" + 		</a:t>
            </a:r>
            <a:r>
              <a:rPr lang="en-US" sz="155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edad</a:t>
            </a: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", domicilio=" + domicilio + "]";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705802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 solución evita la recursión infinita al no incluir la referencia completa a la otra clase.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501610"/>
            <a:ext cx="8276749" cy="568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Solución 2: Usar una Bandera Temporal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7234" y="1433393"/>
            <a:ext cx="13175933" cy="5799177"/>
          </a:xfrm>
          <a:prstGeom prst="roundRect">
            <a:avLst>
              <a:gd name="adj" fmla="val 1317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18185" y="1433393"/>
            <a:ext cx="13194030" cy="5799177"/>
          </a:xfrm>
          <a:prstGeom prst="roundRect">
            <a:avLst>
              <a:gd name="adj" fmla="val 470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99993" y="1552787"/>
            <a:ext cx="12830413" cy="552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Persona {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String nombre;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int edad;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Domicilio domicilio;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private transient boolean inToString = false;  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1400" dirty="0">
              <a:solidFill>
                <a:srgbClr val="5B5F71"/>
              </a:solidFill>
              <a:highlight>
                <a:srgbClr val="E2E3E9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@Override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public String toString() { 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 if (inToString) {    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	return "Persona[nombre=" + nombre + ", edad=" + edad + "]"; 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}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</a:t>
            </a:r>
            <a:r>
              <a:rPr lang="en-US" sz="140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inToString</a:t>
            </a: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true;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String result = "Persona[nombre=" + </a:t>
            </a:r>
            <a:r>
              <a:rPr lang="en-US" sz="140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nombre</a:t>
            </a: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+", edad=" + </a:t>
            </a:r>
            <a:r>
              <a:rPr lang="en-US" sz="140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edad</a:t>
            </a: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+” domicilio=" + domicilio + "]";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</a:t>
            </a:r>
            <a:r>
              <a:rPr lang="en-US" sz="140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inToString</a:t>
            </a: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false;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	return result;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}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7234" y="7437001"/>
            <a:ext cx="13175933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 solución usa una bandera para controlar si ya se está generando el toString() de un objeto.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6855"/>
            <a:ext cx="65212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Comparación de Soluciones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473767"/>
            <a:ext cx="13042821" cy="2298859"/>
          </a:xfrm>
          <a:prstGeom prst="roundRect">
            <a:avLst>
              <a:gd name="adj" fmla="val 362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801410" y="3481388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01197" y="3608070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Solución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46621" y="3608070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Ventajas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88235" y="3608070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Desventajas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4052292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001197" y="4178975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Evitar referencias cíclicas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46621" y="4178975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 y fácil de implementar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88235" y="4178975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Información incompleta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4623197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1001197" y="4749879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Usar bandera temporal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6621" y="4749879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Información más completa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688235" y="4749879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Código más complejo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5194102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001197" y="5320784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Mostrar ID en lugar de objeto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46621" y="5320784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Evita recursión manteniendo referencia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88235" y="5320784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Requiere sistema de IDs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4146"/>
            <a:ext cx="67985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Recomendaciones Generales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711059"/>
            <a:ext cx="4215289" cy="1824276"/>
          </a:xfrm>
          <a:prstGeom prst="roundRect">
            <a:avLst>
              <a:gd name="adj" fmla="val 6015"/>
            </a:avLst>
          </a:prstGeom>
          <a:noFill/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3711059"/>
            <a:ext cx="91440" cy="18242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3588" y="39322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Simplicidad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83588" y="4361498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la mayoría de los casos, la solución más simple (evitar referencias cíclicas) es suficiente y preferible.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207437" y="3711059"/>
            <a:ext cx="4215408" cy="1824276"/>
          </a:xfrm>
          <a:prstGeom prst="roundRect">
            <a:avLst>
              <a:gd name="adj" fmla="val 6015"/>
            </a:avLst>
          </a:prstGeom>
          <a:noFill/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577" y="3711059"/>
            <a:ext cx="91440" cy="18242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97235" y="3932277"/>
            <a:ext cx="25441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Información relevante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497235" y="4361498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Incluye solo la información realmente necesaria para entender el objeto, no es necesario mostrar todo.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9621203" y="3711059"/>
            <a:ext cx="4215289" cy="1824276"/>
          </a:xfrm>
          <a:prstGeom prst="roundRect">
            <a:avLst>
              <a:gd name="adj" fmla="val 6015"/>
            </a:avLst>
          </a:prstGeom>
          <a:noFill/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8343" y="3711059"/>
            <a:ext cx="91440" cy="18242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11001" y="39322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Consistencia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911001" y="4361498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Mantén un enfoque consistente en todas tus clases para facilitar la comprensión del código.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178" y="326708"/>
            <a:ext cx="3426500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4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Casos de Uso Avanzados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75178" y="994767"/>
            <a:ext cx="148518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Colecciones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178" y="1298972"/>
            <a:ext cx="6695123" cy="38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 sobrescribir toString() en clases que contienen colecciones, considera cómo manejar grandes cantidades de elementos.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178" y="1812607"/>
            <a:ext cx="6695123" cy="1318260"/>
          </a:xfrm>
          <a:prstGeom prst="roundRect">
            <a:avLst>
              <a:gd name="adj" fmla="val 3786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6" name="Shape 4"/>
          <p:cNvSpPr/>
          <p:nvPr/>
        </p:nvSpPr>
        <p:spPr>
          <a:xfrm>
            <a:off x="469344" y="1812607"/>
            <a:ext cx="6706791" cy="1318260"/>
          </a:xfrm>
          <a:prstGeom prst="roundRect">
            <a:avLst>
              <a:gd name="adj" fmla="val 1352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7" name="Text 5"/>
          <p:cNvSpPr/>
          <p:nvPr/>
        </p:nvSpPr>
        <p:spPr>
          <a:xfrm>
            <a:off x="588050" y="1901666"/>
            <a:ext cx="6469380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@Override</a:t>
            </a:r>
          </a:p>
          <a:p>
            <a:pPr marL="0" indent="0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String toString() {</a:t>
            </a:r>
          </a:p>
          <a:p>
            <a:pPr marL="0" indent="0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	return "Biblioteca[nombre=" + </a:t>
            </a:r>
            <a:r>
              <a:rPr lang="en-US" sz="160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nombre</a:t>
            </a: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+", libros=" + libros.size() + " 	</a:t>
            </a:r>
            <a:r>
              <a:rPr lang="en-US" sz="160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elementos</a:t>
            </a: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]";</a:t>
            </a:r>
          </a:p>
          <a:p>
            <a:pPr marL="0" indent="0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178" y="3576875"/>
            <a:ext cx="148518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Información sensible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1012" y="4055505"/>
            <a:ext cx="6695123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Oculta información sensible como contraseñas o datos personales.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9344" y="4534616"/>
            <a:ext cx="6695123" cy="1128236"/>
          </a:xfrm>
          <a:prstGeom prst="roundRect">
            <a:avLst>
              <a:gd name="adj" fmla="val 4423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11" name="Shape 9"/>
          <p:cNvSpPr/>
          <p:nvPr/>
        </p:nvSpPr>
        <p:spPr>
          <a:xfrm>
            <a:off x="455891" y="4534616"/>
            <a:ext cx="6706791" cy="1128236"/>
          </a:xfrm>
          <a:prstGeom prst="roundRect">
            <a:avLst>
              <a:gd name="adj" fmla="val 1580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 sz="4000"/>
          </a:p>
        </p:txBody>
      </p:sp>
      <p:sp>
        <p:nvSpPr>
          <p:cNvPr id="12" name="Text 10"/>
          <p:cNvSpPr/>
          <p:nvPr/>
        </p:nvSpPr>
        <p:spPr>
          <a:xfrm>
            <a:off x="574596" y="4623674"/>
            <a:ext cx="646938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@Override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String toString() {  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return "Usuario[nombre=" + </a:t>
            </a:r>
            <a:r>
              <a:rPr lang="en-US" sz="160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nombre</a:t>
            </a: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+", password=*****]";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6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386" y="512326"/>
            <a:ext cx="6695123" cy="66951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434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Rendimiento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530441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O(n)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644372" y="44334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Complejidad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862632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complejidad de toString() suele ser proporcional al número de campos del objeto.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223986" y="3530441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~30%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5871805" y="4433411"/>
            <a:ext cx="28865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Mejora con StringBuilder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23986" y="4862632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Usar StringBuilder en lugar de concatenación de cadenas puede mejorar el rendimiento significativamente.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54302" y="3530441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100+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10323076" y="4433411"/>
            <a:ext cx="28446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Llamadas en depuración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4302" y="4862632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Durante la depuración, toString() puede ser llamado cientos de veces, por lo que la eficiencia importa.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819" y="316111"/>
            <a:ext cx="3782616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4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Herramientas y Frameworks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9819" y="962620"/>
            <a:ext cx="1578769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Generación automática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9820" y="1257061"/>
            <a:ext cx="6715124" cy="837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Muchos IDEs como IntelliJ IDEA y Eclipse pueden </a:t>
            </a:r>
            <a:r>
              <a:rPr lang="en-US" sz="14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generar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4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automáticamente</a:t>
            </a:r>
            <a:endParaRPr lang="en-US" sz="140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métodos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toString() para tus clases.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6484" y="1702043"/>
            <a:ext cx="671512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Selecciona los campos a incluir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0770" y="1957648"/>
            <a:ext cx="671512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Elige el formato de salida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6484" y="2222371"/>
            <a:ext cx="671512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 código optimizado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0770" y="2661928"/>
            <a:ext cx="1437084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Bibliotecas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0770" y="3052178"/>
            <a:ext cx="6562362" cy="67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Bibliotecas como Apache Commons Lang ofrecen utilidades para </a:t>
            </a:r>
            <a:r>
              <a:rPr lang="en-US" sz="14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generar</a:t>
            </a:r>
            <a:endParaRPr lang="en-US" sz="140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toString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() de forma dinámica: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9819" y="3638094"/>
            <a:ext cx="6715125" cy="1092160"/>
          </a:xfrm>
          <a:prstGeom prst="roundRect">
            <a:avLst>
              <a:gd name="adj" fmla="val 4421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 sz="3600"/>
          </a:p>
        </p:txBody>
      </p:sp>
      <p:sp>
        <p:nvSpPr>
          <p:cNvPr id="11" name="Shape 9"/>
          <p:cNvSpPr/>
          <p:nvPr/>
        </p:nvSpPr>
        <p:spPr>
          <a:xfrm>
            <a:off x="440770" y="3672781"/>
            <a:ext cx="6726555" cy="1092160"/>
          </a:xfrm>
          <a:prstGeom prst="roundRect">
            <a:avLst>
              <a:gd name="adj" fmla="val 157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AR" sz="3600"/>
          </a:p>
        </p:txBody>
      </p:sp>
      <p:sp>
        <p:nvSpPr>
          <p:cNvPr id="12" name="Text 10"/>
          <p:cNvSpPr/>
          <p:nvPr/>
        </p:nvSpPr>
        <p:spPr>
          <a:xfrm>
            <a:off x="446484" y="3782932"/>
            <a:ext cx="6496764" cy="91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@Override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String toString() { 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return ToStringBuilder.reflectionToString(    this, </a:t>
            </a:r>
            <a:r>
              <a:rPr lang="en-US" sz="1400" dirty="0" err="1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ToStringStyle.SHORT_PREFIX_STYLE</a:t>
            </a: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E2E3E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219" y="254991"/>
            <a:ext cx="6715125" cy="67151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1478"/>
            <a:ext cx="71220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Resumen de Mejores Prácticas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68391"/>
            <a:ext cx="6521410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360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Sobrescribir siempre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3789759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Sobrescribe toString() en todas tus clases para mejorar la depuración y legibilidad.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368391"/>
            <a:ext cx="6521410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3558" y="3360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Evitar recursión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513558" y="3789759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Ten cuidado con las referencias cíclicas entre clases para evitar StackOverflowError.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23197"/>
            <a:ext cx="6521410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2148" y="56153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Usar super.toString()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92148" y="6044565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subclases, llama a super.toString() para incluir información de la clase base.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23197"/>
            <a:ext cx="6521410" cy="7937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3558" y="5615345"/>
            <a:ext cx="26480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Optimizar rendimiento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513558" y="6044565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Usa StringBuilder para objetos complejos y considera el rendimiento en colecciones grandes.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¡Gracias!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66148"/>
            <a:ext cx="2338030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Recursos adicionales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8070" y="2045375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Documentación oficial de Java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409944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Effective Java de Joshua Bloch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2774513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Code de Robert C. Martin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241953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¿Preguntas?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1848</Words>
  <Application>Microsoft Office PowerPoint</Application>
  <PresentationFormat>Personalizado</PresentationFormat>
  <Paragraphs>295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Instrument Sans Medium</vt:lpstr>
      <vt:lpstr>Instrument Sans Semi Bold</vt:lpstr>
      <vt:lpstr>Consolas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Giuliano  Espejo Mezzabotta</cp:lastModifiedBy>
  <cp:revision>1</cp:revision>
  <dcterms:created xsi:type="dcterms:W3CDTF">2025-07-10T17:55:30Z</dcterms:created>
  <dcterms:modified xsi:type="dcterms:W3CDTF">2025-07-18T03:36:27Z</dcterms:modified>
</cp:coreProperties>
</file>